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C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13_3FF3C961.xml" ContentType="application/vnd.ms-powerpoint.comments+xml"/>
  <Override PartName="/ppt/notesSlides/notesSlide4.xml" ContentType="application/vnd.openxmlformats-officedocument.presentationml.notesSlide+xml"/>
  <Override PartName="/ppt/comments/modernComment_102_0.xml" ContentType="application/vnd.ms-powerpoint.comments+xml"/>
  <Override PartName="/ppt/notesSlides/notesSlide5.xml" ContentType="application/vnd.openxmlformats-officedocument.presentationml.notesSlide+xml"/>
  <Override PartName="/ppt/comments/modernComment_103_0.xml" ContentType="application/vnd.ms-powerpoint.comments+xml"/>
  <Override PartName="/ppt/notesSlides/notesSlide6.xml" ContentType="application/vnd.openxmlformats-officedocument.presentationml.notesSlide+xml"/>
  <Override PartName="/ppt/comments/modernComment_10F_5AFC341E.xml" ContentType="application/vnd.ms-powerpoint.comments+xml"/>
  <Override PartName="/ppt/notesSlides/notesSlide7.xml" ContentType="application/vnd.openxmlformats-officedocument.presentationml.notesSlide+xml"/>
  <Override PartName="/ppt/comments/modernComment_114_3B2B8649.xml" ContentType="application/vnd.ms-powerpoint.comments+xml"/>
  <Override PartName="/ppt/notesSlides/notesSlide8.xml" ContentType="application/vnd.openxmlformats-officedocument.presentationml.notesSlide+xml"/>
  <Override PartName="/ppt/comments/modernComment_105_0.xml" ContentType="application/vnd.ms-powerpoint.comments+xml"/>
  <Override PartName="/ppt/notesSlides/notesSlide9.xml" ContentType="application/vnd.openxmlformats-officedocument.presentationml.notesSlide+xml"/>
  <Override PartName="/ppt/comments/modernComment_106_0.xml" ContentType="application/vnd.ms-powerpoint.comments+xml"/>
  <Override PartName="/ppt/notesSlides/notesSlide10.xml" ContentType="application/vnd.openxmlformats-officedocument.presentationml.notesSlide+xml"/>
  <Override PartName="/ppt/comments/modernComment_107_0.xml" ContentType="application/vnd.ms-powerpoint.comments+xml"/>
  <Override PartName="/ppt/notesSlides/notesSlide11.xml" ContentType="application/vnd.openxmlformats-officedocument.presentationml.notesSlide+xml"/>
  <Override PartName="/ppt/comments/modernComment_108_0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10_275947F6.xml" ContentType="application/vnd.ms-powerpoint.comments+xml"/>
  <Override PartName="/ppt/comments/modernComment_10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68" r:id="rId2"/>
    <p:sldId id="257" r:id="rId3"/>
    <p:sldId id="275" r:id="rId4"/>
    <p:sldId id="258" r:id="rId5"/>
    <p:sldId id="259" r:id="rId6"/>
    <p:sldId id="271" r:id="rId7"/>
    <p:sldId id="277" r:id="rId8"/>
    <p:sldId id="276" r:id="rId9"/>
    <p:sldId id="261" r:id="rId10"/>
    <p:sldId id="262" r:id="rId11"/>
    <p:sldId id="263" r:id="rId12"/>
    <p:sldId id="264" r:id="rId13"/>
    <p:sldId id="274" r:id="rId14"/>
    <p:sldId id="273" r:id="rId15"/>
    <p:sldId id="272" r:id="rId16"/>
    <p:sldId id="266" r:id="rId17"/>
    <p:sldId id="278" r:id="rId18"/>
    <p:sldId id="267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B84F18-BCDF-2250-8095-A93C77F7591B}" name="Максим Блинов" initials="МБ" userId="a37ba9116d6a3f7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640"/>
    <p:restoredTop sz="96498"/>
  </p:normalViewPr>
  <p:slideViewPr>
    <p:cSldViewPr snapToGrid="0" snapToObjects="1">
      <p:cViewPr>
        <p:scale>
          <a:sx n="81" d="100"/>
          <a:sy n="81" d="100"/>
        </p:scale>
        <p:origin x="1800" y="1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55E3D2-3231-EB41-95B4-1B899031540E}" authorId="{C6B84F18-BCDF-2250-8095-A93C77F7591B}" created="2026-05-10T14:01:45.540">
    <pc:sldMkLst xmlns:pc="http://schemas.microsoft.com/office/powerpoint/2013/main/command">
      <pc:docMk/>
      <pc:sldMk cId="0" sldId="267"/>
    </pc:sldMkLst>
    <p188:txBody>
      <a:bodyPr/>
      <a:lstStyle/>
      <a:p>
        <a:r>
          <a:rPr lang="ru-RU"/>
          <a:t>Среди направлений дальнейшего развития — реализация gossip-based peer discovery как замены Redis, поддержка mTLS между агентами для production-безопасности, cache warming с Zipf-прогнозированием популярных моделей, разработка CSI-плагина для нативной интеграции с Kubernetes PVC, а также экспериментальная валидация на реальном GPU-кластере с vLLM.
Система позволяет сократить задержку холодного старта на порядок при сохранении надёжности — что критично для production serverless ML inference.
Доклад окончен. Готов ответить на вопросы.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F26F59-6204-554B-B893-EAA0A9ED095B}" authorId="{C6B84F18-BCDF-2250-8095-A93C77F7591B}" created="2026-05-10T13:59:11.023">
    <pc:sldMkLst xmlns:pc="http://schemas.microsoft.com/office/powerpoint/2013/main/command">
      <pc:docMk/>
      <pc:sldMk cId="0" sldId="268"/>
    </pc:sldMkLst>
    <p188:txBody>
      <a:bodyPr/>
      <a:lstStyle/>
      <a:p>
        <a:r>
          <a:rPr lang="ru-RU"/>
          <a:t>Уважаемые члены государственной экзаменационной комиссии, разрешите представить выпускную квалификационную работу на тему: «Оптимизация холодного старта и масштабирования моделей машинного обучения в бессерверном инференсе для обеспечения надёжности и высокой доступности».</a:t>
        </a:r>
      </a:p>
    </p188:txBody>
  </p188:cm>
</p188:cmLst>
</file>

<file path=ppt/comments/modernComment_10F_5AFC341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0FCAF1-25EF-DE4B-99BC-21AB081D1A03}" authorId="{C6B84F18-BCDF-2250-8095-A93C77F7591B}" created="2026-05-10T14:00:06.108">
    <pc:sldMkLst xmlns:pc="http://schemas.microsoft.com/office/powerpoint/2013/main/command">
      <pc:docMk/>
      <pc:sldMk cId="0" sldId="259"/>
    </pc:sldMkLst>
    <p188:txBody>
      <a:bodyPr/>
      <a:lstStyle/>
      <a:p>
        <a:r>
          <a:rPr lang="ru-RU"/>
          <a:t>На этом слайде показана исходная схема, от которой мы отталкивались. Каждый под состоит из двух контейнеров: `storage-initializer` скачивает веса в разделяемый том типа `emptyDir`, после чего контейнер с ML-runtime загружает их в GPU и начинает обслуживать запросы.
Фундаментальная проблема здесь в том, что `emptyDir` 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7C00F9-63FA-624F-B543-9B30B798EDB1}" authorId="{C6B84F18-BCDF-2250-8095-A93C77F7591B}" created="2026-05-10T13:59:29.197">
    <pc:sldMkLst xmlns:pc="http://schemas.microsoft.com/office/powerpoint/2013/main/command">
      <pc:docMk/>
      <pc:sldMk cId="0" sldId="257"/>
    </pc:sldMkLst>
    <p188:txBody>
      <a:bodyPr/>
      <a:lstStyle/>
      <a:p>
        <a:r>
          <a:rPr lang="ru-RU"/>
          <a:t>Размеры языковых моделей за последние пять лет выросли примерно в сорок раз: GPT-2 в 2019 году занимал около трёх гигабайт, тогда как LLaMA 3 70B сегодня требует порядка 140 гигабайт. При этом бессерверный инференс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GPU постоянно занятым.
Проблема возникает в момент холодного старта: каждый раз, когда планировщик Kubernetes 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SLA: вместо миллисекунд пользователь ждёт минуты.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4FFE7C-5523-374A-BDA4-66FA73A0365C}" authorId="{C6B84F18-BCDF-2250-8095-A93C77F7591B}" created="2026-05-10T13:59:47.704">
    <pc:sldMkLst xmlns:pc="http://schemas.microsoft.com/office/powerpoint/2013/main/command">
      <pc:docMk/>
      <pc:sldMk cId="0" sldId="258"/>
    </pc:sldMkLst>
    <p188:txBody>
      <a:bodyPr/>
      <a:lstStyle/>
      <a:p>
        <a:r>
          <a:rPr lang="ru-RU"/>
          <a:t>Цель работы — разработка архитектуры распределённого кэширования файлов ML-моделей для бессерверного инференса в Kubernetes, которая сокращает задержку холодного старта и снижает нагрузку на внешние репозитории.
Для достижения этой цели были сформулированы восемь задач: начиная с анализа корневых причин проблемы и исследования пяти существующих решений — Alluxio, JuiceFS, Dragonfly, CubeFS и Rook/Ceph — до проектирования специализированной P2P/FUSE-архитектуры, её частичной реализации и теоретического обоснования с применением моделей AMAT, закона Литтла и закона Амдала.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E209F3-1EBF-B44F-B6F9-AA8680CB4A4D}" authorId="{C6B84F18-BCDF-2250-8095-A93C77F7591B}" created="2026-05-10T14:00:06.108">
    <pc:sldMkLst xmlns:pc="http://schemas.microsoft.com/office/powerpoint/2013/main/command">
      <pc:docMk/>
      <pc:sldMk cId="0" sldId="259"/>
    </pc:sldMkLst>
    <p188:txBody>
      <a:bodyPr/>
      <a:lstStyle/>
      <a:p>
        <a:r>
          <a:rPr lang="ru-RU"/>
          <a:t>На этом слайде показана исходная схема, от которой мы отталкивались. Каждый под состоит из двух контейнеров: `storage-initializer` скачивает веса в разделяемый том типа `emptyDir`, после чего контейнер с ML-runtime загружает их в GPU и начинает обслуживать запросы.
Фундаментальная проблема здесь в том, что `emptyDir` 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4E3934-7245-504B-AB00-24BA39E41455}" authorId="{C6B84F18-BCDF-2250-8095-A93C77F7591B}" created="2026-05-10T14:00:25.597">
    <pc:sldMkLst xmlns:pc="http://schemas.microsoft.com/office/powerpoint/2013/main/command">
      <pc:docMk/>
      <pc:sldMk cId="0" sldId="261"/>
    </pc:sldMkLst>
    <p188:txBody>
      <a:bodyPr/>
      <a:lstStyle/>
      <a:p>
        <a:r>
          <a:rPr lang="ru-RU"/>
          <a:t>Система реализована на языке Go. Для оркестрации используется Kubernetes — агент разворачивается как DaemonSet на каждой worker-ноде. Redis применяется как быстрый реестр метаданных чанков и механизм обнаружения агентов через TTL-записи. Виртуальная файловая система строится на FUSE через библиотеку go-fuse. HuggingFace Hub остаётся внешним источником, но используется только как fallback при отсутствии кэша.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F76F47-AF12-FD40-BB7C-05662AEB82A7}" authorId="{C6B84F18-BCDF-2250-8095-A93C77F7591B}" created="2026-05-10T14:00:37.228">
    <pc:sldMkLst xmlns:pc="http://schemas.microsoft.com/office/powerpoint/2013/main/command">
      <pc:docMk/>
      <pc:sldMk cId="0" sldId="262"/>
    </pc:sldMkLst>
    <p188:txBody>
      <a:bodyPr/>
      <a:lstStyle/>
      <a:p>
        <a:r>
          <a:rPr lang="ru-RU"/>
          <a:t>Предложенная архитектура состоит из трёх основных компонентов.
Первый — `storage-agent` — работает на каждой worker-ноде как DaemonSet. Он управляет локальным чанк-кэшем на NVMe-диске, принимает запросы от FUSE-клиента через Unix Domain Socket и обменивается чанками с агентами на других нодах по TCP.
Второй — `storage-mounter` — это FUSE-клиент. Он монтирует виртуальную файловую систему прямо в под. Для ML-runtime это выглядит как обычная директория с файлами. Ключевое свойство — lazy loading: первый байт файла становится доступен раньше, чем вся модель загружена, что позволяет сократить `T_first_byte` до менее секунды.
Третий компонент — Redis Cluster — хранит метаданные: какие чанки есть, на каких нодах, с TTL в 30 секунд. Агенты публикуют heartbeat каждые 10 секунд; при отказе ноды записи автоматически устаревают.
Алгоритм чтения чанка трёхуровневый. Сначала проверяется локальный NVMe — расчётное время 2.3 миллисекунды. При промахе — запрос к соседней ноде по TCP — около 13.3 миллисекунды. Только при втором промахе система обращается к HuggingFace Hub — это 130 миллисекунд и больше. Такая иерархия реализует концепцию многоуровневого кэша с метрикой AMAT.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D674A2-7138-EF4F-A2D2-F223DA036D8E}" authorId="{C6B84F18-BCDF-2250-8095-A93C77F7591B}" created="2026-05-10T14:00:45.736">
    <pc:sldMkLst xmlns:pc="http://schemas.microsoft.com/office/powerpoint/2013/main/command">
      <pc:docMk/>
      <pc:sldMk cId="0" sldId="263"/>
    </pc:sldMkLst>
    <p188:txBody>
      <a:bodyPr/>
      <a:lstStyle/>
      <a:p>
        <a:r>
          <a:rPr lang="ru-RU"/>
          <a:t>Для оценки эффективности была разработана методика нагрузочного тестирования. Тестовый стенд включает 6 worker-нод на Intel Xeon Silver с NVMe Samsung 980 Pro и сетью 10 Гбит/с. В качестве тестовых моделей выбраны Llama 3 8B (15 ГБ, 960 чанков), Mistral 7B и Llama 3 70B.
Сценарии охватывают четыре случая: полностью холодный кластер, прогретый кэш на той же ноде, прогретый кэш на соседней ноде и одновременный burst-запуск 10 подов на разных нодах.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F53F1D-D9C7-534E-9AC0-19BD8A06D936}" authorId="{C6B84F18-BCDF-2250-8095-A93C77F7591B}" created="2026-05-10T14:00:57.445">
    <pc:sldMkLst xmlns:pc="http://schemas.microsoft.com/office/powerpoint/2013/main/command">
      <pc:docMk/>
      <pc:sldMk cId="0" sldId="264"/>
    </pc:sldMkLst>
    <p188:txBody>
      <a:bodyPr/>
      <a:lstStyle/>
      <a:p>
        <a:r>
          <a:rPr lang="ru-RU"/>
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
Принципиальная разница проявляется при прогретом кластере. При local cache hit P2P/FUSE-архитектура даёт около 2 секунд против 75 у baseline — ускорение в 36 раз. При peer cache hit — около 12 секунд, ускорение в 6 раз. `T_first_byte` сокращается с 75 секунд до менее секунды за счёт lazy loading. Внешний трафик при 10 репликах — 15 гигабайт вместо 150, то есть снижение в 10 раз. Среднее время доступа к чанку после прогрева кластера по модели AMAT снижается с 130 до 4.3 миллисекунды — приблизительно в 30 раз.</a:t>
        </a:r>
      </a:p>
    </p188:txBody>
  </p188:cm>
</p188:cmLst>
</file>

<file path=ppt/comments/modernComment_110_275947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5C78B3-7776-5D4C-A19F-9FCC3AE3B8E6}" authorId="{C6B84F18-BCDF-2250-8095-A93C77F7591B}" created="2026-05-10T14:01:07.046">
    <pc:sldMkLst xmlns:pc="http://schemas.microsoft.com/office/powerpoint/2013/main/command">
      <pc:docMk/>
      <pc:sldMk cId="0" sldId="265"/>
    </pc:sldMkLst>
    <p188:txBody>
      <a:bodyPr/>
      <a:lstStyle/>
      <a:p>
        <a:r>
          <a:rPr lang="ru-RU"/>
          <a:t>Отдельно был проведён анализ трёх сценариев отказов.
При отказе worker-ноды TTL-записи агента в Redis истекают автоматически. Если чанки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fallback на HuggingFace, но не останавливается.
При недоступности Redis агент теряет peer discovery, однако продолжает использовать локальный кэш и внешний источник. Сервис работает, но без P2P-уровня.
При недоступности HuggingFace прогретый кластер работает полностью автономно — чанки обслуживаются из local и peer кэша. Это принципиальное отличие от NFS: при отказе NFS-сервера вся система останавливается полностью. P2P/FUSE-архитектура деградирует постепенно.</a:t>
        </a:r>
      </a:p>
    </p188:txBody>
  </p188:cm>
</p188:cmLst>
</file>

<file path=ppt/comments/modernComment_113_3FF3C9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52CDBA-BF30-7E49-8A14-EBB9840A25F5}" authorId="{C6B84F18-BCDF-2250-8095-A93C77F7591B}" created="2026-05-10T13:59:29.197">
    <pc:sldMkLst xmlns:pc="http://schemas.microsoft.com/office/powerpoint/2013/main/command">
      <pc:docMk/>
      <pc:sldMk cId="0" sldId="257"/>
    </pc:sldMkLst>
    <p188:txBody>
      <a:bodyPr/>
      <a:lstStyle/>
      <a:p>
        <a:r>
          <a:rPr lang="ru-RU"/>
          <a:t>Размеры языковых моделей за последние пять лет выросли примерно в сорок раз: GPT-2 в 2019 году занимал около трёх гигабайт, тогда как LLaMA 3 70B сегодня требует порядка 140 гигабайт. При этом бессерверный инференс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GPU постоянно занятым.
Проблема возникает в момент холодного старта: каждый раз, когда планировщик Kubernetes 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SLA: вместо миллисекунд пользователь ждёт минуты.</a:t>
        </a:r>
      </a:p>
    </p188:txBody>
  </p188:cm>
</p188:cmLst>
</file>

<file path=ppt/comments/modernComment_114_3B2B86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F74A10-93F3-F048-9A00-640C830A14CB}" authorId="{C6B84F18-BCDF-2250-8095-A93C77F7591B}" created="2026-05-10T14:00:16.350">
    <pc:sldMkLst xmlns:pc="http://schemas.microsoft.com/office/powerpoint/2013/main/command">
      <pc:docMk/>
      <pc:sldMk cId="0" sldId="260"/>
    </pc:sldMkLst>
    <p188:txBody>
      <a:bodyPr/>
      <a:lstStyle/>
      <a:p>
        <a:r>
          <a:rPr lang="ru-RU"/>
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POSIX-интерфейс для ML-runtime — то есть runtime не должен ничего знать о кэше, он просто читает файл как обычно.
Из нефункциональных: время готовности модели при local cache hit 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F6AAB-46FF-4C4C-8ABC-37516EBBCB0E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4B3EF-DA1E-284A-B57A-D8F762344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49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be19a0b5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cbe19a0b53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Уважаемые члены государственной экзаменационной комиссии, разрешите представить выпускную квалификационную работу на тему: «Оптимизация холодного старта и масштабирования моделей машинного обучения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бессерверном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обеспечения надёжности и высокой доступности».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g2cbe19a0b53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Размеры языковых моделей за последние пять лет выросли примерно в сорок раз: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GPT-2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2019 году занимал около трёх гигабайт, тогда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70B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требует порядка 140 гигабайт. При этом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 занятым.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возникает в момент холодного старта: каждый раз, когда планировщик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миллисекунд пользователь ждёт минуты.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222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866-8E0E-6C58-90E1-6F7A6D9D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71122-1E3A-0C37-0B47-81F694E3F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A2A37-CEAC-F6BC-B3CC-042E199BF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Размеры языковых моделей за последние пять лет выросли примерно в сорок раз: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GPT-2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2019 году занимал около трёх гигабайт, тогда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70B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требует порядка 140 гигабайт. При этом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 занятым.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возникает в момент холодного старта: каждый раз, когда планировщик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миллисекунд пользователь ждёт минуты.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A8C59-DBC0-7B56-AB1D-5CFFA93FF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087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— разработка архитектуры распределённого кэширования файлов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моделей для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бессерверного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 сокращает задержку холодного старта и снижает нагрузку на внешние репозитории.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достижения этой цели были сформулированы восемь задач: начиная с анализа корневых причин проблемы и исследования пяти существующих решений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Alluxio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JuiceFS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Dragonfly,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Rook/Ceph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проектирования специализированной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архитектуры, её частичной реализации и теоретического обоснования с применением моделей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закона Литтла и закона Амдала.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143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показана исходная схема, от которой мы отталкивались. Каждый под состоит из двух контейнеров: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storage-initializer`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скачивает веса в разделяемый том типа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чего контейнер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загружает их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начинает обслуживать запросы.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Фундаментальная проблема здесь в том, что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85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4086-8470-6F25-9A0E-832D98AA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7C2FD-6FAB-F240-EA2F-60763C17E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C330D-64BC-C185-3C23-EB650BE8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показана исходная схема, от которой мы отталкивались. Каждый под состоит из двух контейнеров: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storage-initializer`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скачивает веса в разделяемый том типа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чего контейнер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загружает их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начинает обслуживать запросы.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Фундаментальная проблема здесь в том, что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FE978-B5F9-C9C5-A2AC-711A46DB8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624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271A-84F4-DAEE-90BE-0DBED3E9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E90EA-CE08-89D1-DC20-6845A9F54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3F1A2-3AEE-CC0F-B859-7C98BF8D8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POSIX-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должен ничего знать о кэше, он просто читает файл как обычно.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нефункциональных: время готовности модели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DCA13-981F-4626-FA57-90DD82A62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464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реализована на языке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разворачивается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применяется как быстрый реестр метаданных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механизм обнаружения агентов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записи. Виртуальная файловая система строится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библиотеку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go-fuse.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 внешним источником, но используется только как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отсутствии кэша.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772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Предложенная архитектура состоит из трёх основных компонентов.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storage-agent`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управляет локальным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-кэшем 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диске, принимает запросы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клиента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 Domain Socket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обменивается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чанками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агентами на других нодах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storage-mounter`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клиент. Он монтирует виртуальную файловую систему прямо в под.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выглядит как обычная директория с файлами. Ключевое свойство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байт файла становится доступен раньше, чем вся модель загружена, что позволяет сократить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менее секунды.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Третий компонент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Cluster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 метаданные: какие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есть, на каких нодах,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30 секунд. Агенты публикуют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каждые 10 секунд; при отказе ноды записи автоматически устаревают.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 чтения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трёхуровневый. Сначала проверяется локальный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расчётное время 2.3 миллисекунды. При промахе — запрос к соседней ноде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13.3 миллисекунды. Только при втором промахе система обращается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130 миллисекунд и больше. Такая иерархия реализует концепцию многоуровневого кэша с метрикой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959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оценки эффективности была разработана методика нагрузочного тестирования. Тестовый стенд включает 6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 Xeon Silver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Samsung 980 Pro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сетью 10 Гбит/с. В качестве тестовых моделей выбраны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8B (15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ГБ, 960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 7B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70B.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 охватывают четыре случая: полностью холодный кластер, прогретый кэш на той же ноде, прогретый кэш на соседней ноде и одновременный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burst-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 10 подов на разных нодах.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781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Принципиальная разница проявляется при прогретом кластере.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даёт около 2 секунд против 75 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ускорение в 36 раз.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cache hit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12 секунд, ускорение в 6 раз.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сокращается с 75 секунд до менее секунды за счёт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Внешний трафик при 10 репликах — 15 гигабайт вместо 150, то есть снижение в 10 раз. Среднее время доступа 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чанку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после прогрева кластера по модели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снижается с 130 до 4.3 миллисекунды — приблизительно в 30 раз.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796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A108-818F-CA98-E6FE-51876A0B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8530C-033C-8EA2-5AE3-05860C85E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C5B62-2542-B888-63C1-028FA27CB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2CC29-D92E-2C35-CE3E-1DE299AD1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30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0978-EAF5-F405-0380-62036E29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0FEF3-90C8-93C8-3C3C-8E4478C74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1A1A-61A8-3E80-0884-438A5A84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59DE4-33EB-75B3-FADD-105F1F77A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030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31A8-51A6-1D4F-B736-2035DC9F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FB9A0-43BC-A3A3-21F7-D694782AC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F61C1-F7EA-1EDB-0390-31A5D1602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88D8E-04F1-9977-D26A-BF7AA0CD8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1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D64D-045C-CF49-A1BF-F0D82F9DCAC7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5C98-EE8E-2A46-9B53-20A27C9916C2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71E2-8F19-364C-8C37-BFA27B2BB39B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4FE4-24B2-0146-9A2B-E48522EDB802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F9C5-4B38-D54D-858A-73B07C9038CB}" type="datetime1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EEEE-FA2D-FC48-AF9E-B1F79D5D0236}" type="datetime1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A813-D337-D846-ABD8-E20EBA348966}" type="datetime1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659B-F5F8-E244-B2A3-7F8F8ACA3A37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440B-D415-6E43-AF2D-452A36A83E94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38FDF-C6F5-C44D-BED0-5FBBF04F3BA2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1188-8CD3-294B-BEE7-322D019D3036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A9FA5-CA61-4F46-9543-357B379C8373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477368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3FF3C96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5AFC341E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3B2B864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275947F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685800" y="2205714"/>
            <a:ext cx="8029500" cy="1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r>
              <a:rPr lang="ru" sz="1800" dirty="0"/>
              <a:t>Выпускная квалификационная работа</a:t>
            </a:r>
            <a:br>
              <a:rPr lang="ru" sz="1800" dirty="0"/>
            </a:br>
            <a:r>
              <a:rPr lang="ru" sz="1800" dirty="0"/>
              <a:t>на тему:</a:t>
            </a:r>
            <a:br>
              <a:rPr lang="ru" sz="1800" b="1" dirty="0"/>
            </a:br>
            <a:r>
              <a:rPr lang="ru-RU" sz="2000" b="1" dirty="0">
                <a:latin typeface="+mn-lt"/>
              </a:rPr>
              <a:t>Оптимизация холодного старта и масштабирования моделей машинного обучения</a:t>
            </a:r>
            <a:r>
              <a:rPr lang="en-US" sz="2000" b="1" dirty="0">
                <a:latin typeface="+mn-lt"/>
              </a:rPr>
              <a:t> </a:t>
            </a:r>
            <a:r>
              <a:rPr lang="ru-RU" sz="2000" b="1" dirty="0">
                <a:latin typeface="+mn-lt"/>
              </a:rPr>
              <a:t>в </a:t>
            </a:r>
            <a:r>
              <a:rPr lang="ru-RU" sz="2000" b="1" dirty="0" err="1">
                <a:latin typeface="+mn-lt"/>
              </a:rPr>
              <a:t>бессерверном</a:t>
            </a:r>
            <a:r>
              <a:rPr lang="ru-RU" sz="2000" b="1" dirty="0">
                <a:latin typeface="+mn-lt"/>
              </a:rPr>
              <a:t> </a:t>
            </a:r>
            <a:r>
              <a:rPr lang="ru-RU" sz="2000" b="1" dirty="0" err="1">
                <a:latin typeface="+mn-lt"/>
              </a:rPr>
              <a:t>инференсе</a:t>
            </a:r>
            <a:r>
              <a:rPr lang="ru-RU" sz="2000" b="1" dirty="0">
                <a:latin typeface="+mn-lt"/>
              </a:rPr>
              <a:t> для обеспечения высокой доступности</a:t>
            </a:r>
            <a:br>
              <a:rPr lang="ru-RU" sz="2000" dirty="0">
                <a:latin typeface="+mn-lt"/>
              </a:rPr>
            </a:br>
            <a:endParaRPr sz="2700" b="1" dirty="0">
              <a:latin typeface="+mn-lt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685800" y="3875102"/>
            <a:ext cx="80295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ru" sz="1400" dirty="0">
                <a:solidFill>
                  <a:schemeClr val="tx1"/>
                </a:solidFill>
              </a:rPr>
              <a:t>Студент группы М8О-</a:t>
            </a:r>
            <a:r>
              <a:rPr lang="en-US" sz="1400" dirty="0">
                <a:solidFill>
                  <a:schemeClr val="tx1"/>
                </a:solidFill>
              </a:rPr>
              <a:t>209</a:t>
            </a:r>
            <a:r>
              <a:rPr lang="ru-RU" sz="1400" dirty="0">
                <a:solidFill>
                  <a:schemeClr val="tx1"/>
                </a:solidFill>
              </a:rPr>
              <a:t>СВ</a:t>
            </a:r>
            <a:r>
              <a:rPr lang="ru" sz="1400" dirty="0">
                <a:solidFill>
                  <a:schemeClr val="tx1"/>
                </a:solidFill>
              </a:rPr>
              <a:t>-24: Блинов Максим Алексеевич</a:t>
            </a:r>
            <a:endParaRPr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SzPts val="1400"/>
            </a:pPr>
            <a:r>
              <a:rPr lang="ru" sz="1400" dirty="0">
                <a:solidFill>
                  <a:schemeClr val="tx1"/>
                </a:solidFill>
              </a:rPr>
              <a:t>Научный руководитель: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М. Б. Булакина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ru" sz="1400" dirty="0">
                <a:solidFill>
                  <a:schemeClr val="tx1"/>
                </a:solidFill>
              </a:rPr>
              <a:t> к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ru-RU" sz="1400" dirty="0">
                <a:solidFill>
                  <a:schemeClr val="tx1"/>
                </a:solidFill>
              </a:rPr>
              <a:t>т.н.</a:t>
            </a:r>
            <a:r>
              <a:rPr lang="ru" sz="1400" dirty="0">
                <a:solidFill>
                  <a:schemeClr val="tx1"/>
                </a:solidFill>
              </a:rPr>
              <a:t>,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доцент ОЦ института №8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 l="16736"/>
          <a:stretch/>
        </p:blipFill>
        <p:spPr>
          <a:xfrm>
            <a:off x="1287359" y="497908"/>
            <a:ext cx="3919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2487967" y="4807259"/>
            <a:ext cx="41682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Москва 202</a:t>
            </a:r>
            <a:r>
              <a:rPr lang="ru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317" y="479183"/>
            <a:ext cx="675649" cy="65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09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Актуальность темы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85E14-CA08-FAD5-7C4E-22856178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D28F2-05BB-AF5E-3CA5-D60E8CA4F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733" y="904623"/>
            <a:ext cx="5636533" cy="4061428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BAA7-35C2-3C3F-A250-58D7FA25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281C1-A9D6-65D3-85ED-98E294018D58}"/>
              </a:ext>
            </a:extLst>
          </p:cNvPr>
          <p:cNvSpPr txBox="1"/>
          <p:nvPr/>
        </p:nvSpPr>
        <p:spPr>
          <a:xfrm>
            <a:off x="311809" y="278944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Проблема холодного старта в </a:t>
            </a:r>
            <a:r>
              <a:rPr lang="en-US" sz="2400" b="1" dirty="0">
                <a:latin typeface="Roboto"/>
                <a:ea typeface="Roboto"/>
                <a:cs typeface="Roboto"/>
              </a:rPr>
              <a:t>serverless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7202B-909B-56EB-CF44-2619C315A5BB}"/>
              </a:ext>
            </a:extLst>
          </p:cNvPr>
          <p:cNvSpPr txBox="1"/>
          <p:nvPr/>
        </p:nvSpPr>
        <p:spPr>
          <a:xfrm>
            <a:off x="311809" y="1448365"/>
            <a:ext cx="2997448" cy="224676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При каждом scale-up Pod заново скачивает всю модель из интернета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15 ГБ × 200 МБ/с = 75 секунд до первого токена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10 одновременных реплик = 150 ГБ внешнего трафика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p99 latency первого запроса — минуты вместо секунд → нарушение SLA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0347A-C760-541B-83A7-E4EDD345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27F15-BF63-1B2A-27B5-F644877F2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257" y="1252587"/>
            <a:ext cx="5439022" cy="29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414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Цель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948228"/>
            <a:ext cx="8351215" cy="324704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Цель: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-RU" sz="1400" i="1" dirty="0">
                <a:latin typeface="Roboto"/>
                <a:ea typeface="Roboto"/>
                <a:cs typeface="Roboto"/>
              </a:rPr>
              <a:t>Сокращение задержки холодного старта и снизить нагрузку на внешние реестры моделей путем </a:t>
            </a:r>
            <a:r>
              <a:rPr lang="ru" sz="1400" i="1" dirty="0">
                <a:latin typeface="Roboto"/>
                <a:ea typeface="Roboto"/>
                <a:cs typeface="Roboto"/>
              </a:rPr>
              <a:t>разработки архитектуры распределённого кэширования ML-моделей для serverless-инференса в Kubernetes</a:t>
            </a:r>
            <a:r>
              <a:rPr lang="en-US" sz="1400" i="1" dirty="0">
                <a:latin typeface="Roboto"/>
                <a:ea typeface="Roboto"/>
                <a:cs typeface="Roboto"/>
              </a:rPr>
              <a:t>.</a:t>
            </a:r>
          </a:p>
          <a:p>
            <a:pPr marL="0" indent="0" algn="l">
              <a:buNone/>
            </a:pPr>
            <a:endParaRPr lang="en-US" sz="1700" b="1" i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Анализ причин холодного старта и масштаба проблемы роста весов моделей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Исследование существующих решений: Alluxio, JuiceFS, Dragonfly, CubeFS, Rook/Ceph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Разработка NFS-этапа с координацией через flock и Kubernetes Lease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Проектирование P2P/FUSE-архитектуры с трёхуровневой иерархией кэша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Реализация storage-agent (DaemonSet) и storage-mounter (FUSE-клиент)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Выбор механизма обнаружения узлов: Redis heartbeat vs Gossip vs mDNS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Теоретический анализ: AMAT, Закон Литтла, Амдал, Ципф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Формирование методики оценки эффективности с расчётными значениями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914A5-117D-7A1B-B7AB-FB1DC4C0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Классическая архитектура </a:t>
            </a:r>
            <a:r>
              <a:rPr lang="en-US" sz="2400" b="1" dirty="0">
                <a:latin typeface="Roboto"/>
                <a:ea typeface="Roboto"/>
                <a:cs typeface="Roboto"/>
              </a:rPr>
              <a:t>serverless </a:t>
            </a:r>
            <a:r>
              <a:rPr lang="ru-RU" sz="2400" b="1" dirty="0" err="1">
                <a:latin typeface="Roboto"/>
                <a:ea typeface="Roboto"/>
                <a:cs typeface="Roboto"/>
              </a:rPr>
              <a:t>инференса</a:t>
            </a:r>
            <a:r>
              <a:rPr lang="en-US" sz="2400" b="1" dirty="0">
                <a:latin typeface="Roboto"/>
                <a:ea typeface="Roboto"/>
                <a:cs typeface="Roboto"/>
              </a:rPr>
              <a:t> 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5036" y="859752"/>
            <a:ext cx="4427153" cy="381642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Схема: storage-initializer + emptyDir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Scheduler</a:t>
            </a:r>
            <a:r>
              <a:rPr lang="ru" sz="1400" dirty="0">
                <a:latin typeface="Roboto"/>
                <a:ea typeface="Roboto"/>
                <a:cs typeface="Roboto"/>
              </a:rPr>
              <a:t> помещает Pod на worker-ноду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storage-initializer</a:t>
            </a:r>
            <a:r>
              <a:rPr lang="ru" sz="1400" dirty="0">
                <a:latin typeface="Roboto"/>
                <a:ea typeface="Roboto"/>
                <a:cs typeface="Roboto"/>
              </a:rPr>
              <a:t> скачивает модель из HuggingFace в emptyDir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runtime-container</a:t>
            </a:r>
            <a:r>
              <a:rPr lang="ru" sz="1400" dirty="0">
                <a:latin typeface="Roboto"/>
                <a:ea typeface="Roboto"/>
                <a:cs typeface="Roboto"/>
              </a:rPr>
              <a:t> монтирует emptyDir, загружает в GPU</a:t>
            </a:r>
          </a:p>
          <a:p>
            <a:pPr marL="342900" indent="-342900" algn="l">
              <a:buFont typeface="+mj-lt"/>
              <a:buAutoNum type="arabicPeriod"/>
            </a:pPr>
            <a:endParaRPr lang="ru" sz="1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6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Ключевые проблемы: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Нет переиспользования — каждый Pod скачивает </a:t>
            </a:r>
            <a:r>
              <a:rPr lang="ru" sz="1400" b="1" dirty="0">
                <a:latin typeface="Roboto"/>
                <a:ea typeface="Roboto"/>
                <a:cs typeface="Roboto"/>
              </a:rPr>
              <a:t>заново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10 реплик = 10 загрузок = </a:t>
            </a:r>
            <a:r>
              <a:rPr lang="ru" sz="1400" b="1" dirty="0">
                <a:latin typeface="Roboto"/>
                <a:ea typeface="Roboto"/>
                <a:cs typeface="Roboto"/>
              </a:rPr>
              <a:t>150 ГБ внешнего трафика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-RU" sz="1100" b="1" dirty="0">
                <a:latin typeface="Roboto"/>
                <a:ea typeface="Roboto"/>
                <a:cs typeface="Roboto"/>
              </a:rPr>
              <a:t>первого байта</a:t>
            </a:r>
            <a:r>
              <a:rPr lang="ru" sz="1400" dirty="0">
                <a:latin typeface="Roboto"/>
                <a:ea typeface="Roboto"/>
                <a:cs typeface="Roboto"/>
              </a:rPr>
              <a:t>= T</a:t>
            </a:r>
            <a:r>
              <a:rPr lang="ru" sz="1100" b="1" dirty="0">
                <a:latin typeface="Roboto"/>
                <a:ea typeface="Roboto"/>
                <a:cs typeface="Roboto"/>
              </a:rPr>
              <a:t>скачивания модели</a:t>
            </a:r>
            <a:r>
              <a:rPr lang="ru" sz="1400" dirty="0">
                <a:latin typeface="Roboto"/>
                <a:ea typeface="Roboto"/>
                <a:cs typeface="Roboto"/>
              </a:rPr>
              <a:t> ≈ </a:t>
            </a:r>
            <a:r>
              <a:rPr lang="ru" sz="1400" b="1" dirty="0">
                <a:latin typeface="Roboto"/>
                <a:ea typeface="Roboto"/>
                <a:cs typeface="Roboto"/>
              </a:rPr>
              <a:t>75 с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Зависимость от доступности внешних реестров моделей (</a:t>
            </a:r>
            <a:r>
              <a:rPr lang="en-US" sz="1400" dirty="0" err="1">
                <a:latin typeface="Roboto"/>
                <a:ea typeface="Roboto"/>
                <a:cs typeface="Roboto"/>
              </a:rPr>
              <a:t>Huggingface</a:t>
            </a:r>
            <a:r>
              <a:rPr lang="en-US" sz="1400" dirty="0">
                <a:latin typeface="Roboto"/>
                <a:ea typeface="Roboto"/>
                <a:cs typeface="Roboto"/>
              </a:rPr>
              <a:t>, Ollama Model-Scope </a:t>
            </a:r>
            <a:r>
              <a:rPr lang="ru-RU" sz="1400" dirty="0">
                <a:latin typeface="Roboto"/>
                <a:ea typeface="Roboto"/>
                <a:cs typeface="Roboto"/>
              </a:rPr>
              <a:t>и </a:t>
            </a:r>
            <a:r>
              <a:rPr lang="ru-RU" sz="1400" dirty="0" err="1">
                <a:latin typeface="Roboto"/>
                <a:ea typeface="Roboto"/>
                <a:cs typeface="Roboto"/>
              </a:rPr>
              <a:t>тд</a:t>
            </a:r>
            <a:r>
              <a:rPr lang="en-US" sz="1400" dirty="0">
                <a:latin typeface="Roboto"/>
                <a:ea typeface="Roboto"/>
                <a:cs typeface="Roboto"/>
              </a:rPr>
              <a:t>.)</a:t>
            </a:r>
            <a:endParaRPr lang="ru" sz="1400" dirty="0">
              <a:latin typeface="Roboto"/>
              <a:ea typeface="Roboto"/>
              <a:cs typeface="Roboto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ABCF9E-534A-66FC-FAA3-094B8195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3AE63-5EB1-7F2A-66D3-1861E1637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" y="564342"/>
            <a:ext cx="3835647" cy="43002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C4E9-5D94-D21D-72C2-D92708F4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12DF9-5316-FE2E-B1A5-36A3A9DF0345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Инициализация модели в классической архитектуре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3896A0-B681-5FBA-F655-9ED51ECB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F2187-8B70-6396-7A7F-A2A6070DD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6" y="1022433"/>
            <a:ext cx="7859486" cy="366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778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7DB5F-A571-A1E9-D53B-1753BE6B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FAA0A-4E92-7113-7782-E2D2C2A519AD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Существующие решения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53CCE3-8BCE-ADE4-6B75-631037292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241120"/>
              </p:ext>
            </p:extLst>
          </p:nvPr>
        </p:nvGraphicFramePr>
        <p:xfrm>
          <a:off x="311810" y="1094388"/>
          <a:ext cx="8309676" cy="2954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4838">
                  <a:extLst>
                    <a:ext uri="{9D8B030D-6E8A-4147-A177-3AD203B41FA5}">
                      <a16:colId xmlns:a16="http://schemas.microsoft.com/office/drawing/2014/main" val="3604354557"/>
                    </a:ext>
                  </a:extLst>
                </a:gridCol>
                <a:gridCol w="4154838">
                  <a:extLst>
                    <a:ext uri="{9D8B030D-6E8A-4147-A177-3AD203B41FA5}">
                      <a16:colId xmlns:a16="http://schemas.microsoft.com/office/drawing/2014/main" val="2722625025"/>
                    </a:ext>
                  </a:extLst>
                </a:gridCol>
              </a:tblGrid>
              <a:tr h="434839">
                <a:tc>
                  <a:txBody>
                    <a:bodyPr/>
                    <a:lstStyle/>
                    <a:p>
                      <a:pPr algn="l"/>
                      <a:r>
                        <a:rPr lang="ru-RU" sz="1600" b="1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Решение: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Недостатки: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130467"/>
                  </a:ext>
                </a:extLst>
              </a:tr>
              <a:tr h="43483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Alluxio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сложный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ops,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дорогой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Enterprise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44924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JuiceFS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S3-зависимость,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без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P2P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9521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Dragonfly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нет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POSIX,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отдельный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scheduler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685130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CubeFS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сложный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ops,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без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P2P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722106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Rook/Ceph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высокий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overhead,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сложный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ops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292226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NFS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SPOF, bottleneck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43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29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7813-7E14-962C-83B0-466F2516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518D98-61C5-81DE-2590-E5D40FCF6A2A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Требования к архитектуре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67C8D-9962-E73E-5CAD-78A4B5E8C5D2}"/>
              </a:ext>
            </a:extLst>
          </p:cNvPr>
          <p:cNvSpPr txBox="1"/>
          <p:nvPr/>
        </p:nvSpPr>
        <p:spPr>
          <a:xfrm>
            <a:off x="311810" y="1051560"/>
            <a:ext cx="4160520" cy="33855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Функциональные:</a:t>
            </a:r>
            <a:endParaRPr lang="ru" sz="1600" dirty="0"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1B51D-A0F7-55E2-33C7-D7F85D8A63CB}"/>
              </a:ext>
            </a:extLst>
          </p:cNvPr>
          <p:cNvSpPr txBox="1"/>
          <p:nvPr/>
        </p:nvSpPr>
        <p:spPr>
          <a:xfrm>
            <a:off x="4960010" y="1051560"/>
            <a:ext cx="4069080" cy="63094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Нефункциональные:</a:t>
            </a:r>
            <a:br>
              <a:rPr lang="ru" sz="1600" b="1" dirty="0">
                <a:latin typeface="Roboto"/>
                <a:ea typeface="Roboto"/>
                <a:cs typeface="Roboto"/>
              </a:rPr>
            </a:br>
            <a:endParaRPr lang="ru" sz="16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A8B1F8-01DB-63FF-A6C2-C3F3C137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CCA94-8081-A39D-0BA3-C54F56BE70EF}"/>
              </a:ext>
            </a:extLst>
          </p:cNvPr>
          <p:cNvSpPr txBox="1"/>
          <p:nvPr/>
        </p:nvSpPr>
        <p:spPr>
          <a:xfrm>
            <a:off x="311810" y="1509064"/>
            <a:ext cx="45649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Переиспользование весов между запусками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P2P-передача чанков между нодами без HF Hub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Стандартный POSIX-интерфейс для ML-runtime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Автоматический fallback на внешний репозиторий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Совместимость с Kubernetes (DaemonSet, CSI)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Атомарная запись чанков (tmp → os.Rename)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736D58-678E-31B2-FF4C-A8AF811A52D1}"/>
              </a:ext>
            </a:extLst>
          </p:cNvPr>
          <p:cNvSpPr txBox="1"/>
          <p:nvPr/>
        </p:nvSpPr>
        <p:spPr>
          <a:xfrm>
            <a:off x="4960011" y="1537671"/>
            <a:ext cx="38721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-RU" sz="1100" b="1" dirty="0">
                <a:latin typeface="Roboto"/>
                <a:ea typeface="Roboto"/>
                <a:cs typeface="Roboto"/>
              </a:rPr>
              <a:t>готовности модели</a:t>
            </a:r>
            <a:r>
              <a:rPr lang="en-US" sz="1100" dirty="0">
                <a:latin typeface="Roboto"/>
                <a:ea typeface="Roboto"/>
                <a:cs typeface="Roboto"/>
              </a:rPr>
              <a:t> </a:t>
            </a:r>
            <a:r>
              <a:rPr lang="ru" sz="1400" dirty="0">
                <a:latin typeface="Roboto"/>
                <a:ea typeface="Roboto"/>
                <a:cs typeface="Roboto"/>
              </a:rPr>
              <a:t>при local hit ≤ 3 с (15 ГБ)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" sz="1100" b="1" dirty="0">
                <a:latin typeface="Roboto"/>
                <a:ea typeface="Roboto"/>
                <a:cs typeface="Roboto"/>
              </a:rPr>
              <a:t>первого байта</a:t>
            </a:r>
            <a:r>
              <a:rPr lang="ru" sz="1400" dirty="0">
                <a:latin typeface="Roboto"/>
                <a:ea typeface="Roboto"/>
                <a:cs typeface="Roboto"/>
              </a:rPr>
              <a:t> (lazy FUSE loading) &lt; 1 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Трафик N=10 реплик = 1× размер модели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Отказ worker-ноды → graceful degradation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Overhead FUSE (последов. чтение) ≤ 0.5% CPU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Redis lookup latency p99 &lt; 5 мс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92708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Стек технологий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810" y="905909"/>
            <a:ext cx="8351215" cy="305468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Kubernetes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Оркестрация: DaemonSet для storage-agent; PVC, CSI-интеграция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Go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Реализация storage-agent и storage-mounter; библиотека go-fuse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Redis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Реестр метаданных чанков: TTL-записи, heartbeat агентов (Sentinel / Cluster)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FUSE (Linux)</a:t>
            </a:r>
            <a:br>
              <a:rPr lang="en-US" sz="1800" b="1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Виртуальная ФС — ML-runtime видит обычные файлы без изменений кода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HuggingFace Hub</a:t>
            </a:r>
            <a:br>
              <a:rPr lang="en-US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Внешний репозиторий весов моделей; fallback-источник при отсутствии кэша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NFS  ·  Docker  ·  Prometheus + Grafana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Промежуточный этап с flock / Lease; контейнеризация; мониторинг hit rate и latency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2E958-C196-59A6-1544-A2CFEE5A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62799"/>
            <a:ext cx="8520379" cy="83099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Предложенная </a:t>
            </a:r>
          </a:p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архитектура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D46C6B-5E2E-3B97-4B6E-008F25B5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9285C-4274-BBB2-46AA-E7886E7E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372" y="-74913"/>
            <a:ext cx="5796427" cy="52184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232585-3073-DCE7-5B21-77D371E57299}"/>
              </a:ext>
            </a:extLst>
          </p:cNvPr>
          <p:cNvSpPr txBox="1"/>
          <p:nvPr/>
        </p:nvSpPr>
        <p:spPr>
          <a:xfrm>
            <a:off x="311810" y="1356595"/>
            <a:ext cx="2959562" cy="341632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storage-agent</a:t>
            </a: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Р</a:t>
            </a:r>
            <a:r>
              <a:rPr lang="ru" sz="1400" dirty="0">
                <a:latin typeface="Roboto"/>
                <a:ea typeface="Roboto"/>
                <a:cs typeface="Roboto"/>
              </a:rPr>
              <a:t>еализует chunk-кэш на NVMe </a:t>
            </a:r>
            <a:r>
              <a:rPr lang="en-US" sz="1400" dirty="0">
                <a:latin typeface="Roboto"/>
                <a:ea typeface="Roboto"/>
                <a:cs typeface="Roboto"/>
              </a:rPr>
              <a:t>/ HDD / RAM</a:t>
            </a:r>
          </a:p>
          <a:p>
            <a:pPr marL="0" indent="0" algn="l">
              <a:buNone/>
            </a:pPr>
            <a:endParaRPr lang="en-US" sz="14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storage-mounter (</a:t>
            </a:r>
            <a:r>
              <a:rPr lang="en-US" sz="1600" b="1" dirty="0">
                <a:latin typeface="Roboto"/>
                <a:ea typeface="Roboto"/>
                <a:cs typeface="Roboto"/>
              </a:rPr>
              <a:t>fuse</a:t>
            </a:r>
            <a:r>
              <a:rPr lang="ru" sz="1600" b="1" dirty="0">
                <a:latin typeface="Roboto"/>
                <a:ea typeface="Roboto"/>
                <a:cs typeface="Roboto"/>
              </a:rPr>
              <a:t>)</a:t>
            </a: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Монтирует</a:t>
            </a:r>
            <a:r>
              <a:rPr lang="en-US" sz="1400" dirty="0">
                <a:latin typeface="Roboto"/>
                <a:ea typeface="Roboto"/>
                <a:cs typeface="Roboto"/>
              </a:rPr>
              <a:t> </a:t>
            </a:r>
            <a:r>
              <a:rPr lang="ru-RU" sz="1400" dirty="0">
                <a:latin typeface="Roboto"/>
                <a:ea typeface="Roboto"/>
                <a:cs typeface="Roboto"/>
              </a:rPr>
              <a:t>удаленный репозиторий в файловую систему</a:t>
            </a:r>
            <a:r>
              <a:rPr lang="en-US" sz="1400" dirty="0">
                <a:latin typeface="Roboto"/>
                <a:ea typeface="Roboto"/>
                <a:cs typeface="Roboto"/>
              </a:rPr>
              <a:t>, </a:t>
            </a:r>
            <a:r>
              <a:rPr lang="ru-RU" sz="1400" dirty="0">
                <a:latin typeface="Roboto"/>
                <a:ea typeface="Roboto"/>
                <a:cs typeface="Roboto"/>
              </a:rPr>
              <a:t>реализует </a:t>
            </a:r>
            <a:r>
              <a:rPr lang="en-US" sz="1400" b="1" dirty="0">
                <a:latin typeface="Roboto"/>
                <a:ea typeface="Roboto"/>
                <a:cs typeface="Roboto"/>
              </a:rPr>
              <a:t>streaming-cache</a:t>
            </a:r>
            <a:endParaRPr lang="ru-RU" sz="14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lang="en-US" sz="1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en-US" sz="1600" b="1" dirty="0" err="1">
                <a:latin typeface="Roboto"/>
                <a:ea typeface="Roboto"/>
                <a:cs typeface="Roboto"/>
              </a:rPr>
              <a:t>redis</a:t>
            </a:r>
            <a:r>
              <a:rPr lang="en-US" sz="1600" b="1" dirty="0">
                <a:latin typeface="Roboto"/>
                <a:ea typeface="Roboto"/>
                <a:cs typeface="Roboto"/>
              </a:rPr>
              <a:t>-cluster </a:t>
            </a:r>
            <a:endParaRPr lang="ru-RU" sz="16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Хранилище метаданных</a:t>
            </a:r>
            <a:r>
              <a:rPr lang="en-US" sz="1400" dirty="0">
                <a:latin typeface="Roboto"/>
                <a:ea typeface="Roboto"/>
                <a:cs typeface="Roboto"/>
              </a:rPr>
              <a:t>, </a:t>
            </a:r>
            <a:r>
              <a:rPr lang="ru-RU" sz="1400" dirty="0">
                <a:latin typeface="Roboto"/>
                <a:ea typeface="Roboto"/>
                <a:cs typeface="Roboto"/>
              </a:rPr>
              <a:t>определяет на каких нодах лежат </a:t>
            </a:r>
            <a:r>
              <a:rPr lang="ru-RU" sz="1400" dirty="0" err="1">
                <a:latin typeface="Roboto"/>
                <a:ea typeface="Roboto"/>
                <a:cs typeface="Roboto"/>
              </a:rPr>
              <a:t>чанки</a:t>
            </a:r>
            <a:r>
              <a:rPr lang="ru-RU" sz="1400" dirty="0">
                <a:latin typeface="Roboto"/>
                <a:ea typeface="Roboto"/>
                <a:cs typeface="Roboto"/>
              </a:rPr>
              <a:t> для загрузки с соседней ноды</a:t>
            </a:r>
            <a:endParaRPr lang="ru" sz="1400" dirty="0"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Нагрузочное 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51560"/>
            <a:ext cx="4159606" cy="324704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Тестовый стенд: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6 worker-нод: Intel Xeon Silver, 16c/32t, 64 ГБ RAM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Samsung 980 Pro NVMe 2 ТБ — seq. read 7 000 МБ/с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Сеть: 10 Гбит/с Ethernet, RTT ≤ 0.5 мс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Redis: 1 master + 2 replica</a:t>
            </a:r>
          </a:p>
          <a:p>
            <a:pPr marL="0" indent="0" algn="l">
              <a:buNone/>
            </a:pPr>
            <a:endParaRPr lang="en-US" sz="1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lang="ru" sz="1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Тестируемые модели:</a:t>
            </a: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Roboto"/>
                <a:ea typeface="Roboto"/>
                <a:cs typeface="Roboto"/>
              </a:rPr>
              <a:t>DeepSeek</a:t>
            </a:r>
            <a:r>
              <a:rPr lang="ru" sz="1400" dirty="0">
                <a:latin typeface="Roboto"/>
                <a:ea typeface="Roboto"/>
                <a:cs typeface="Roboto"/>
              </a:rPr>
              <a:t> </a:t>
            </a:r>
            <a:r>
              <a:rPr lang="en-US" sz="1400" dirty="0">
                <a:latin typeface="Roboto"/>
                <a:ea typeface="Roboto"/>
                <a:cs typeface="Roboto"/>
              </a:rPr>
              <a:t>7</a:t>
            </a:r>
            <a:r>
              <a:rPr lang="ru" sz="1400" dirty="0">
                <a:latin typeface="Roboto"/>
                <a:ea typeface="Roboto"/>
                <a:cs typeface="Roboto"/>
              </a:rPr>
              <a:t>B   —  15 ГБ,  960 чанков × 16 МБ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Mistral 7B   —  14 ГБ,  896 чанков × 16 МБ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Roboto"/>
                <a:ea typeface="Roboto"/>
                <a:cs typeface="Roboto"/>
              </a:rPr>
              <a:t>DeepSeek</a:t>
            </a:r>
            <a:r>
              <a:rPr lang="ru" sz="1400" dirty="0">
                <a:latin typeface="Roboto"/>
                <a:ea typeface="Roboto"/>
                <a:cs typeface="Roboto"/>
              </a:rPr>
              <a:t> 70B  —  140 ГБ, 8 960 чанков × 16 МБ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3109" y="1051560"/>
            <a:ext cx="4069080" cy="218521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Сценарии:</a:t>
            </a:r>
          </a:p>
          <a:p>
            <a:pPr marL="228600" indent="-228600" algn="l">
              <a:buFont typeface="+mj-lt"/>
              <a:buAutoNum type="arabicPeriod"/>
            </a:pPr>
            <a:endParaRPr sz="3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Cold cluster — кэш пуст, Redis пуст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первый запуск в кластере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Warm (same node) — local cache hit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модель уже есть на той же ноде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Warm (peer node) — P2P peer cache hit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модель есть на соседней ноде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Burst ×10 — 10 подов одновременно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суммарный трафик и p99 по репликам</a:t>
            </a:r>
          </a:p>
          <a:p>
            <a:pPr marL="0" indent="0" algn="l">
              <a:buNone/>
            </a:pPr>
            <a:endParaRPr lang="en-US" sz="500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6022F-A550-ACD3-E65D-76480BA0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Результаты тестирования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37665"/>
              </p:ext>
            </p:extLst>
          </p:nvPr>
        </p:nvGraphicFramePr>
        <p:xfrm>
          <a:off x="311810" y="780802"/>
          <a:ext cx="864108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Roboto"/>
                        </a:rPr>
                        <a:t>Показатель</a:t>
                      </a:r>
                      <a:endParaRPr sz="1400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Roboto"/>
                        </a:rPr>
                        <a:t>emptyDir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 (baseline)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NFS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P2P / FUSE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cold 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кластер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warm (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на той же ноде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~12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warm (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соседняя нода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~12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~12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первого байта</a:t>
                      </a:r>
                      <a:endParaRPr sz="1400" b="1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&lt; 1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Внешний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трафик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</a:t>
                      </a:r>
                      <a:endParaRPr lang="ru-RU"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N = 10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реплик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150 ГБ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NFS-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сервер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Redis (HA →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Деградация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при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отказе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полная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graceful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Redis lookup  p50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&lt; 1 мс / &lt; 5 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CPU overhead FUSE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&lt; 0.5 %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C2F474-5E5C-9D76-DE20-A3EF60A8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F23C-75F6-18BA-537A-963E599A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7A87E6-8421-9F71-EC26-25AD7DC14881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</a:t>
            </a:r>
            <a:r>
              <a:rPr lang="en-US" sz="2400" b="1" dirty="0">
                <a:latin typeface="Roboto"/>
                <a:ea typeface="Roboto"/>
                <a:cs typeface="Roboto"/>
              </a:rPr>
              <a:t> </a:t>
            </a:r>
            <a:r>
              <a:rPr lang="ru-RU" sz="2400" b="1" dirty="0">
                <a:latin typeface="Roboto"/>
                <a:ea typeface="Roboto"/>
                <a:cs typeface="Roboto"/>
              </a:rPr>
              <a:t>производительности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506DC-CA32-BF61-D7E4-0E59B9BC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E180B7-2CC7-5304-DD6D-F542BD68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3300"/>
            <a:ext cx="4787900" cy="313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04D1D-200D-3C82-61CE-9ADF154C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989" y="1003300"/>
            <a:ext cx="47752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3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7218-8E49-5EB6-12B2-828AB907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20101-B765-5932-E242-DE439C9A0901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 внешнего трафика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ED87A-17E1-A6D8-5742-4EB6AD3E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24A9C-F39B-0B0E-4142-F62975F1B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471" y="975834"/>
            <a:ext cx="5491055" cy="37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88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4D62-BCDF-178A-516E-3EFB8EF3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555D8-7C3C-809B-0C35-A7A27A9B08C0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 времени простоя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ECC2-58A5-2D57-91F2-92F3D68D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2BEFB-BC09-B01B-80FF-8325F329D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099" y="832299"/>
            <a:ext cx="6211800" cy="412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625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Итоги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391" y="860530"/>
            <a:ext cx="8351215" cy="3570208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Выполненные 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Проведён анализ причин и масштаба проблемы cold start в serverless ML inference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Исследованы и сравнены 5 решений: Alluxio, JuiceFS, Dragonfly, CubeFS, Rook/Ceph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Разработан NFS-этап с Leader Election через Kubernetes Lease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Спроектирована P2P/FUSE-архитектура с трёхуровневой иерархией кэша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Реализованы storage-agent (DaemonSet) и storage-mounter (FUSE)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Обоснован выбор Redis heartbeat vs Gossip Protocol vs mDNS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Анализ: AMAT, Закон Литтла, Амдал, Ципф</a:t>
            </a:r>
            <a:br>
              <a:rPr lang="ru" sz="1500" dirty="0">
                <a:latin typeface="Roboto"/>
                <a:ea typeface="Roboto"/>
                <a:cs typeface="Roboto"/>
              </a:rPr>
            </a:br>
            <a:br>
              <a:rPr lang="en-US" sz="1600" dirty="0">
                <a:latin typeface="Roboto"/>
                <a:ea typeface="Roboto"/>
                <a:cs typeface="Roboto"/>
              </a:rPr>
            </a:b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Практическая ценность: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135 ГБ экономии внешнего трафика при 10 репликах Llama 3 8B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T_model_ready: 75 с → 2 с при прогретом кластере  (×36 ускорение)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T_first_byte &lt; 1 с благодаря FUSE lazy loading  (было 75 с)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Устранение NFS как единственной точки отказа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27FEA-C266-2321-156A-D11C887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5F5A2-210C-5CC1-16FD-62423601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35438-A5A6-A482-F50C-6A5568AFA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67697"/>
            <a:ext cx="4208106" cy="4208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F3BA69-65E8-F183-F577-BCA613B0BE00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Ссылка на репозиторий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1EEC2-3543-725B-1660-29B7352DA600}"/>
              </a:ext>
            </a:extLst>
          </p:cNvPr>
          <p:cNvSpPr txBox="1"/>
          <p:nvPr/>
        </p:nvSpPr>
        <p:spPr>
          <a:xfrm>
            <a:off x="4571999" y="4495223"/>
            <a:ext cx="4260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 err="1">
                <a:latin typeface="Roboto"/>
                <a:ea typeface="Roboto"/>
                <a:cs typeface="Roboto"/>
              </a:rPr>
              <a:t>https</a:t>
            </a:r>
            <a:r>
              <a:rPr lang="ru-RU" sz="1400" dirty="0">
                <a:latin typeface="Roboto"/>
                <a:ea typeface="Roboto"/>
                <a:cs typeface="Roboto"/>
              </a:rPr>
              <a:t>://</a:t>
            </a:r>
            <a:r>
              <a:rPr lang="ru-RU" sz="1400" dirty="0" err="1">
                <a:latin typeface="Roboto"/>
                <a:ea typeface="Roboto"/>
                <a:cs typeface="Roboto"/>
              </a:rPr>
              <a:t>github.com</a:t>
            </a:r>
            <a:r>
              <a:rPr lang="ru-RU" sz="1400" dirty="0">
                <a:latin typeface="Roboto"/>
                <a:ea typeface="Roboto"/>
                <a:cs typeface="Roboto"/>
              </a:rPr>
              <a:t>/</a:t>
            </a:r>
            <a:r>
              <a:rPr lang="ru-RU" sz="1400" dirty="0" err="1">
                <a:latin typeface="Roboto"/>
                <a:ea typeface="Roboto"/>
                <a:cs typeface="Roboto"/>
              </a:rPr>
              <a:t>orgs</a:t>
            </a:r>
            <a:r>
              <a:rPr lang="ru-RU" sz="1400" dirty="0">
                <a:latin typeface="Roboto"/>
                <a:ea typeface="Roboto"/>
                <a:cs typeface="Roboto"/>
              </a:rPr>
              <a:t>/</a:t>
            </a:r>
            <a:r>
              <a:rPr lang="ru-RU" sz="1400" dirty="0" err="1">
                <a:latin typeface="Roboto"/>
                <a:ea typeface="Roboto"/>
                <a:cs typeface="Roboto"/>
              </a:rPr>
              <a:t>vibefs</a:t>
            </a:r>
            <a:r>
              <a:rPr lang="ru-RU" sz="1400" dirty="0">
                <a:latin typeface="Roboto"/>
                <a:ea typeface="Roboto"/>
                <a:cs typeface="Roboto"/>
              </a:rPr>
              <a:t>/</a:t>
            </a:r>
            <a:r>
              <a:rPr lang="ru-RU" sz="1400" dirty="0" err="1">
                <a:latin typeface="Roboto"/>
                <a:ea typeface="Roboto"/>
                <a:cs typeface="Roboto"/>
              </a:rPr>
              <a:t>repositories</a:t>
            </a:r>
            <a:endParaRPr lang="ru-RU" sz="1400" dirty="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91596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Направления дальнейшего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87716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Gossip-based peer discovery — P2P без зависимости от Redis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mTLS между storage-agent — аутентификация TCP для production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Cache warming — предзагрузка по расписанию, Zipf-прогнозирование</a:t>
            </a:r>
            <a:endParaRPr lang="ru" sz="1700" b="1" i="1" dirty="0">
              <a:solidFill>
                <a:srgbClr val="158158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2F126-CFB3-AC50-4D6E-B3928E54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3328</TotalTime>
  <Words>2616</Words>
  <Application>Microsoft Macintosh PowerPoint</Application>
  <PresentationFormat>On-screen Show (16:9)</PresentationFormat>
  <Paragraphs>265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Roboto</vt:lpstr>
      <vt:lpstr>Office Theme</vt:lpstr>
      <vt:lpstr>Выпускная квалификационная работа на тему: Оптимизация холодного старта и масштабирования моделей машинного обучения в бессерверном инференсе для обеспечения высокой доступности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Максим Блинов</cp:lastModifiedBy>
  <cp:revision>27</cp:revision>
  <dcterms:created xsi:type="dcterms:W3CDTF">2013-01-27T09:14:16Z</dcterms:created>
  <dcterms:modified xsi:type="dcterms:W3CDTF">2026-06-24T14:44:39Z</dcterms:modified>
  <cp:category/>
</cp:coreProperties>
</file>