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C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notesSlides/notesSlide4.xml" ContentType="application/vnd.openxmlformats-officedocument.presentationml.notesSlide+xml"/>
  <Override PartName="/ppt/comments/modernComment_103_0.xml" ContentType="application/vnd.ms-powerpoint.comments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notesSlides/notesSlide6.xml" ContentType="application/vnd.openxmlformats-officedocument.presentationml.notesSlide+xml"/>
  <Override PartName="/ppt/comments/modernComment_105_0.xml" ContentType="application/vnd.ms-powerpoint.comments+xml"/>
  <Override PartName="/ppt/notesSlides/notesSlide7.xml" ContentType="application/vnd.openxmlformats-officedocument.presentationml.notesSlide+xml"/>
  <Override PartName="/ppt/comments/modernComment_106_0.xml" ContentType="application/vnd.ms-powerpoint.comments+xml"/>
  <Override PartName="/ppt/notesSlides/notesSlide8.xml" ContentType="application/vnd.openxmlformats-officedocument.presentationml.notesSlide+xml"/>
  <Override PartName="/ppt/comments/modernComment_107_0.xml" ContentType="application/vnd.ms-powerpoint.comments+xml"/>
  <Override PartName="/ppt/notesSlides/notesSlide9.xml" ContentType="application/vnd.openxmlformats-officedocument.presentationml.notesSlide+xml"/>
  <Override PartName="/ppt/comments/modernComment_108_0.xml" ContentType="application/vnd.ms-powerpoint.comments+xml"/>
  <Override PartName="/ppt/notesSlides/notesSlide10.xml" ContentType="application/vnd.openxmlformats-officedocument.presentationml.notesSlide+xml"/>
  <Override PartName="/ppt/comments/modernComment_109_0.xml" ContentType="application/vnd.ms-powerpoint.comments+xml"/>
  <Override PartName="/ppt/comments/modernComment_10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B84F18-BCDF-2250-8095-A93C77F7591B}" name="Максим Блинов" initials="МБ" userId="a37ba9116d6a3f7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574"/>
    <p:restoredTop sz="96498"/>
  </p:normalViewPr>
  <p:slideViewPr>
    <p:cSldViewPr snapToGrid="0" snapToObjects="1">
      <p:cViewPr>
        <p:scale>
          <a:sx n="186" d="100"/>
          <a:sy n="186" d="100"/>
        </p:scale>
        <p:origin x="70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55E3D2-3231-EB41-95B4-1B899031540E}" authorId="{C6B84F18-BCDF-2250-8095-A93C77F7591B}" created="2026-05-10T14:01:45.540">
    <pc:sldMkLst xmlns:pc="http://schemas.microsoft.com/office/powerpoint/2013/main/command">
      <pc:docMk/>
      <pc:sldMk cId="0" sldId="267"/>
    </pc:sldMkLst>
    <p188:txBody>
      <a:bodyPr/>
      <a:lstStyle/>
      <a:p>
        <a:r>
          <a:rPr lang="ru-RU"/>
          <a:t>Среди направлений дальнейшего развития — реализация gossip-based peer discovery как замены Redis, поддержка mTLS между агентами для production-безопасности, cache warming с Zipf-прогнозированием популярных моделей, разработка CSI-плагина для нативной интеграции с Kubernetes PVC, а также экспериментальная валидация на реальном GPU-кластере с vLLM.
Система позволяет сократить задержку холодного старта на порядок при сохранении надёжности — что критично для production serverless ML inference.
Доклад окончен. Готов ответить на вопросы.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F26F59-6204-554B-B893-EAA0A9ED095B}" authorId="{C6B84F18-BCDF-2250-8095-A93C77F7591B}" created="2026-05-10T13:59:11.023">
    <pc:sldMkLst xmlns:pc="http://schemas.microsoft.com/office/powerpoint/2013/main/command">
      <pc:docMk/>
      <pc:sldMk cId="0" sldId="268"/>
    </pc:sldMkLst>
    <p188:txBody>
      <a:bodyPr/>
      <a:lstStyle/>
      <a:p>
        <a:r>
          <a:rPr lang="ru-RU"/>
          <a:t>Уважаемые члены государственной экзаменационной комиссии, разрешите представить выпускную квалификационную работу на тему: «Оптимизация холодного старта и масштабирования моделей машинного обучения в бессерверном инференсе для обеспечения надёжности и высокой доступности».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7C00F9-63FA-624F-B543-9B30B798EDB1}" authorId="{C6B84F18-BCDF-2250-8095-A93C77F7591B}" created="2026-05-10T13:59:29.197">
    <pc:sldMkLst xmlns:pc="http://schemas.microsoft.com/office/powerpoint/2013/main/command">
      <pc:docMk/>
      <pc:sldMk cId="0" sldId="257"/>
    </pc:sldMkLst>
    <p188:txBody>
      <a:bodyPr/>
      <a:lstStyle/>
      <a:p>
        <a:r>
          <a:rPr lang="ru-RU"/>
          <a:t>Размеры языковых моделей за последние пять лет выросли примерно в сорок раз: GPT-2 в 2019 году занимал около трёх гигабайт, тогда как LLaMA 3 70B сегодня требует порядка 140 гигабайт. При этом бессерверный инференс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GPU постоянно занятым.
Проблема возникает в момент холодного старта: каждый раз, когда планировщик Kubernetes 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SLA: вместо миллисекунд пользователь ждёт минуты.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4FFE7C-5523-374A-BDA4-66FA73A0365C}" authorId="{C6B84F18-BCDF-2250-8095-A93C77F7591B}" created="2026-05-10T13:59:47.704">
    <pc:sldMkLst xmlns:pc="http://schemas.microsoft.com/office/powerpoint/2013/main/command">
      <pc:docMk/>
      <pc:sldMk cId="0" sldId="258"/>
    </pc:sldMkLst>
    <p188:txBody>
      <a:bodyPr/>
      <a:lstStyle/>
      <a:p>
        <a:r>
          <a:rPr lang="ru-RU"/>
          <a:t>Цель работы — разработка архитектуры распределённого кэширования файлов ML-моделей для бессерверного инференса в Kubernetes, которая сокращает задержку холодного старта и снижает нагрузку на внешние репозитории.
Для достижения этой цели были сформулированы восемь задач: начиная с анализа корневых причин проблемы и исследования пяти существующих решений — Alluxio, JuiceFS, Dragonfly, CubeFS и Rook/Ceph — до проектирования специализированной P2P/FUSE-архитектуры, её частичной реализации и теоретического обоснования с применением моделей AMAT, закона Литтла и закона Амдала.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E209F3-1EBF-B44F-B6F9-AA8680CB4A4D}" authorId="{C6B84F18-BCDF-2250-8095-A93C77F7591B}" created="2026-05-10T14:00:06.108">
    <pc:sldMkLst xmlns:pc="http://schemas.microsoft.com/office/powerpoint/2013/main/command">
      <pc:docMk/>
      <pc:sldMk cId="0" sldId="259"/>
    </pc:sldMkLst>
    <p188:txBody>
      <a:bodyPr/>
      <a:lstStyle/>
      <a:p>
        <a:r>
          <a:rPr lang="ru-RU"/>
          <a:t>На этом слайде показана исходная схема, от которой мы отталкивались. Каждый под состоит из двух контейнеров: `storage-initializer` скачивает веса в разделяемый том типа `emptyDir`, после чего контейнер с ML-runtime загружает их в GPU и начинает обслуживать запросы.
Фундаментальная проблема здесь в том, что `emptyDir` 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D9F113-00CB-1949-AC2D-3CD9814DFBA9}" authorId="{C6B84F18-BCDF-2250-8095-A93C77F7591B}" created="2026-05-10T14:00:16.350">
    <pc:sldMkLst xmlns:pc="http://schemas.microsoft.com/office/powerpoint/2013/main/command">
      <pc:docMk/>
      <pc:sldMk cId="0" sldId="260"/>
    </pc:sldMkLst>
    <p188:txBody>
      <a:bodyPr/>
      <a:lstStyle/>
      <a:p>
        <a:r>
          <a:rPr lang="ru-RU"/>
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POSIX-интерфейс для ML-runtime — то есть runtime не должен ничего знать о кэше, он просто читает файл как обычно.
Из нефункциональных: время готовности модели при local cache hit 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4E3934-7245-504B-AB00-24BA39E41455}" authorId="{C6B84F18-BCDF-2250-8095-A93C77F7591B}" created="2026-05-10T14:00:25.597">
    <pc:sldMkLst xmlns:pc="http://schemas.microsoft.com/office/powerpoint/2013/main/command">
      <pc:docMk/>
      <pc:sldMk cId="0" sldId="261"/>
    </pc:sldMkLst>
    <p188:txBody>
      <a:bodyPr/>
      <a:lstStyle/>
      <a:p>
        <a:r>
          <a:rPr lang="ru-RU"/>
          <a:t>Система реализована на языке Go. Для оркестрации используется Kubernetes — агент разворачивается как DaemonSet на каждой worker-ноде. Redis применяется как быстрый реестр метаданных чанков и механизм обнаружения агентов через TTL-записи. Виртуальная файловая система строится на FUSE через библиотеку go-fuse. HuggingFace Hub остаётся внешним источником, но используется только как fallback при отсутствии кэша.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BF76F47-AF12-FD40-BB7C-05662AEB82A7}" authorId="{C6B84F18-BCDF-2250-8095-A93C77F7591B}" created="2026-05-10T14:00:37.228">
    <pc:sldMkLst xmlns:pc="http://schemas.microsoft.com/office/powerpoint/2013/main/command">
      <pc:docMk/>
      <pc:sldMk cId="0" sldId="262"/>
    </pc:sldMkLst>
    <p188:txBody>
      <a:bodyPr/>
      <a:lstStyle/>
      <a:p>
        <a:r>
          <a:rPr lang="ru-RU"/>
          <a:t>Предложенная архитектура состоит из трёх основных компонентов.
Первый — `storage-agent` — работает на каждой worker-ноде как DaemonSet. Он управляет локальным чанк-кэшем на NVMe-диске, принимает запросы от FUSE-клиента через Unix Domain Socket и обменивается чанками с агентами на других нодах по TCP.
Второй — `storage-mounter` — это FUSE-клиент. Он монтирует виртуальную файловую систему прямо в под. Для ML-runtime это выглядит как обычная директория с файлами. Ключевое свойство — lazy loading: первый байт файла становится доступен раньше, чем вся модель загружена, что позволяет сократить `T_first_byte` до менее секунды.
Третий компонент — Redis Cluster — хранит метаданные: какие чанки есть, на каких нодах, с TTL в 30 секунд. Агенты публикуют heartbeat каждые 10 секунд; при отказе ноды записи автоматически устаревают.
Алгоритм чтения чанка трёхуровневый. Сначала проверяется локальный NVMe — расчётное время 2.3 миллисекунды. При промахе — запрос к соседней ноде по TCP — около 13.3 миллисекунды. Только при втором промахе система обращается к HuggingFace Hub — это 130 миллисекунд и больше. Такая иерархия реализует концепцию многоуровневого кэша с метрикой AMAT.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D674A2-7138-EF4F-A2D2-F223DA036D8E}" authorId="{C6B84F18-BCDF-2250-8095-A93C77F7591B}" created="2026-05-10T14:00:45.736">
    <pc:sldMkLst xmlns:pc="http://schemas.microsoft.com/office/powerpoint/2013/main/command">
      <pc:docMk/>
      <pc:sldMk cId="0" sldId="263"/>
    </pc:sldMkLst>
    <p188:txBody>
      <a:bodyPr/>
      <a:lstStyle/>
      <a:p>
        <a:r>
          <a:rPr lang="ru-RU"/>
          <a:t>Для оценки эффективности была разработана методика нагрузочного тестирования. Тестовый стенд включает 6 worker-нод на Intel Xeon Silver с NVMe Samsung 980 Pro и сетью 10 Гбит/с. В качестве тестовых моделей выбраны Llama 3 8B (15 ГБ, 960 чанков), Mistral 7B и Llama 3 70B.
Сценарии охватывают четыре случая: полностью холодный кластер, прогретый кэш на той же ноде, прогретый кэш на соседней ноде и одновременный burst-запуск 10 подов на разных нодах.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F53F1D-D9C7-534E-9AC0-19BD8A06D936}" authorId="{C6B84F18-BCDF-2250-8095-A93C77F7591B}" created="2026-05-10T14:00:57.445">
    <pc:sldMkLst xmlns:pc="http://schemas.microsoft.com/office/powerpoint/2013/main/command">
      <pc:docMk/>
      <pc:sldMk cId="0" sldId="264"/>
    </pc:sldMkLst>
    <p188:txBody>
      <a:bodyPr/>
      <a:lstStyle/>
      <a:p>
        <a:r>
          <a:rPr lang="ru-RU"/>
          <a:t>Результаты сравнения трёх подходов по ключевым метрикам показаны в таблице. В холодном кластере все три подхода показывают схожее время — около 75 секунд, поскольку первая загрузка всегда идёт из внешнего источника.
Принципиальная разница проявляется при прогретом кластере. При local cache hit P2P/FUSE-архитектура даёт около 2 секунд против 75 у baseline — ускорение в 36 раз. При peer cache hit — около 12 секунд, ускорение в 6 раз. `T_first_byte` сокращается с 75 секунд до менее секунды за счёт lazy loading. Внешний трафик при 10 репликах — 15 гигабайт вместо 150, то есть снижение в 10 раз. Среднее время доступа к чанку после прогрева кластера по модели AMAT снижается с 130 до 4.3 миллисекунды — приблизительно в 30 раз.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25023D-4EF0-E649-B20F-F2C95987733C}" authorId="{C6B84F18-BCDF-2250-8095-A93C77F7591B}" created="2026-05-10T14:01:07.046">
    <pc:sldMkLst xmlns:pc="http://schemas.microsoft.com/office/powerpoint/2013/main/command">
      <pc:docMk/>
      <pc:sldMk cId="0" sldId="265"/>
    </pc:sldMkLst>
    <p188:txBody>
      <a:bodyPr/>
      <a:lstStyle/>
      <a:p>
        <a:r>
          <a:rPr lang="ru-RU"/>
          <a:t>Отдельно был проведён анализ трёх сценариев отказов.
При отказе worker-ноды TTL-записи агента в Redis истекают автоматически. Если чанки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fallback на HuggingFace, но не останавливается.
При недоступности Redis агент теряет peer discovery, однако продолжает использовать локальный кэш и внешний источник. Сервис работает, но без P2P-уровня.
При недоступности HuggingFace прогретый кластер работает полностью автономно — чанки обслуживаются из local и peer кэша. Это принципиальное отличие от NFS: при отказе NFS-сервера вся система останавливается полностью. P2P/FUSE-архитектура деградирует постепенно.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F6AAB-46FF-4C4C-8ABC-37516EBBCB0E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4B3EF-DA1E-284A-B57A-D8F762344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49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be19a0b5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cbe19a0b53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Уважаемые члены государственной экзаменационной комиссии, разрешите представить выпускную квалификационную работу на тему: «Оптимизация холодного старта и масштабирования моделей машинного обучения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бессерверном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обеспечения надёжности и высокой доступности».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g2cbe19a0b53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Размеры языковых моделей за последние пять лет выросли примерно в сорок раз: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GPT-2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2019 году занимал около трёх гигабайт, тогда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70B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 требует порядка 140 гигабайт. При этом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постоянно занятым.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возникает в момент холодного старта: каждый раз, когда планировщик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миллисекунд пользователь ждёт минуты.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222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 работы — разработка архитектуры распределённого кэширования файлов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моделей для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бессерверного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которая сокращает задержку холодного старта и снижает нагрузку на внешние репозитории.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достижения этой цели были сформулированы восемь задач: начиная с анализа корневых причин проблемы и исследования пяти существующих решений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Alluxio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JuiceFS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Dragonfly,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Rook/Ceph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проектирования специализированной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архитектуры, её частичной реализации и теоретического обоснования с применением моделей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закона Литтла и закона Амдала.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143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слайде показана исходная схема, от которой мы отталкивались. Каждый под состоит из двух контейнеров: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storage-initializer`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скачивает веса в разделяемый том типа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чего контейнер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загружает их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начинает обслуживать запросы.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Фундаментальная проблема здесь в том, что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85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POSIX-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должен ничего знать о кэше, он просто читает файл как обычно.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нефункциональных: время готовности модели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cache hit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520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реализована на языке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оркестрации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разворачивается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каждой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ноде.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применяется как быстрый реестр метаданных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механизм обнаружения агентов через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записи. Виртуальная файловая система строится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библиотеку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go-fuse.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 внешним источником, но используется только как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отсутствии кэша.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772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Предложенная архитектура состоит из трёх основных компонентов.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—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storage-agent`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на каждой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ноде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управляет локальным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-кэшем 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диске, принимает запросы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клиента через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 Domain Socket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обменивается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чанками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агентами на других нодах по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—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storage-mounter`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клиент. Он монтирует виртуальную файловую систему прямо в под.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выглядит как обычная директория с файлами. Ключевое свойство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 loading: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байт файла становится доступен раньше, чем вся модель загружена, что позволяет сократить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T_first_byte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менее секунды.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Третий компонент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Cluster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 метаданные: какие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есть, на каких нодах,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30 секунд. Агенты публикуют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каждые 10 секунд; при отказе ноды записи автоматически устаревают.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Алгоритм чтения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трёхуровневый. Сначала проверяется локальный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расчётное время 2.3 миллисекунды. При промахе — запрос к соседней ноде по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 13.3 миллисекунды. Только при втором промахе система обращается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Hub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130 миллисекунд и больше. Такая иерархия реализует концепцию многоуровневого кэша с метрикой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959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оценки эффективности была разработана методика нагрузочного тестирования. Тестовый стенд включает 6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 Xeon Silver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Samsung 980 Pro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сетью 10 Гбит/с. В качестве тестовых моделей выбраны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 3 8B (15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ГБ, 960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Mistral 7B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 3 70B.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Сценарии охватывают четыре случая: полностью холодный кластер, прогретый кэш на той же ноде, прогретый кэш на соседней ноде и одновременный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burst-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 10 подов на разных нодах.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781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Результаты сравнения трёх подходов по ключевым метрикам показаны в таблице. В холодном кластере все три подхода показывают схожее время — около 75 секунд, поскольку первая загрузка всегда идёт из внешнего источника.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Принципиальная разница проявляется при прогретом кластере.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cache hit 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даёт около 2 секунд против 75 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ускорение в 36 раз.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cache hit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 12 секунд, ускорение в 6 раз.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T_first_byte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сокращается с 75 секунд до менее секунды за счёт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 loading.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Внешний трафик при 10 репликах — 15 гигабайт вместо 150, то есть снижение в 10 раз. Среднее время доступа к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чанку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после прогрева кластера по модели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снижается с 130 до 4.3 миллисекунды — приблизительно в 30 раз.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796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597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D64D-045C-CF49-A1BF-F0D82F9DCAC7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5C98-EE8E-2A46-9B53-20A27C9916C2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71E2-8F19-364C-8C37-BFA27B2BB39B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14FE4-24B2-0146-9A2B-E48522EDB802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FF9C5-4B38-D54D-858A-73B07C9038CB}" type="datetime1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EEEE-FA2D-FC48-AF9E-B1F79D5D0236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A813-D337-D846-ABD8-E20EBA348966}" type="datetime1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659B-F5F8-E244-B2A3-7F8F8ACA3A37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440B-D415-6E43-AF2D-452A36A83E94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38FDF-C6F5-C44D-BED0-5FBBF04F3BA2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1188-8CD3-294B-BEE7-322D019D3036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A9FA5-CA61-4F46-9543-357B379C8373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477368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ctrTitle"/>
          </p:nvPr>
        </p:nvSpPr>
        <p:spPr>
          <a:xfrm>
            <a:off x="685800" y="2205714"/>
            <a:ext cx="8029500" cy="1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r>
              <a:rPr lang="ru" sz="1800" dirty="0"/>
              <a:t>Выпускная квалификационная работа </a:t>
            </a:r>
            <a:r>
              <a:rPr lang="ru-RU" sz="1800" dirty="0"/>
              <a:t>магистра</a:t>
            </a:r>
            <a:br>
              <a:rPr lang="ru" sz="1800" dirty="0"/>
            </a:br>
            <a:r>
              <a:rPr lang="ru" sz="1800" dirty="0"/>
              <a:t>на тему:</a:t>
            </a:r>
            <a:br>
              <a:rPr lang="ru" sz="1800" b="1" dirty="0"/>
            </a:br>
            <a:r>
              <a:rPr lang="ru-RU" sz="2000" b="1" dirty="0">
                <a:latin typeface="+mn-lt"/>
              </a:rPr>
              <a:t>Оптимизация холодного старта и масштабирования моделей машинного обучения</a:t>
            </a:r>
            <a:r>
              <a:rPr lang="en-US" sz="2000" b="1" dirty="0">
                <a:latin typeface="+mn-lt"/>
              </a:rPr>
              <a:t> </a:t>
            </a:r>
            <a:r>
              <a:rPr lang="ru-RU" sz="2000" b="1" dirty="0">
                <a:latin typeface="+mn-lt"/>
              </a:rPr>
              <a:t>в </a:t>
            </a:r>
            <a:r>
              <a:rPr lang="ru-RU" sz="2000" b="1" dirty="0" err="1">
                <a:latin typeface="+mn-lt"/>
              </a:rPr>
              <a:t>бессерверном</a:t>
            </a:r>
            <a:r>
              <a:rPr lang="ru-RU" sz="2000" b="1" dirty="0">
                <a:latin typeface="+mn-lt"/>
              </a:rPr>
              <a:t> </a:t>
            </a:r>
            <a:r>
              <a:rPr lang="ru-RU" sz="2000" b="1" dirty="0" err="1">
                <a:latin typeface="+mn-lt"/>
              </a:rPr>
              <a:t>инференсе</a:t>
            </a:r>
            <a:r>
              <a:rPr lang="ru-RU" sz="2000" b="1" dirty="0">
                <a:latin typeface="+mn-lt"/>
              </a:rPr>
              <a:t> для обеспечения </a:t>
            </a:r>
            <a:r>
              <a:rPr lang="ru-RU" sz="2000" b="1" dirty="0">
                <a:highlight>
                  <a:srgbClr val="FF0000"/>
                </a:highlight>
                <a:latin typeface="+mn-lt"/>
              </a:rPr>
              <a:t>надёжности и</a:t>
            </a:r>
            <a:r>
              <a:rPr lang="ru-RU" sz="2000" b="1" dirty="0">
                <a:latin typeface="+mn-lt"/>
              </a:rPr>
              <a:t> высокой доступности</a:t>
            </a:r>
            <a:br>
              <a:rPr lang="ru-RU" sz="2000" dirty="0">
                <a:latin typeface="+mn-lt"/>
              </a:rPr>
            </a:br>
            <a:endParaRPr sz="2700" b="1" dirty="0">
              <a:latin typeface="+mn-lt"/>
            </a:endParaRPr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685800" y="3875102"/>
            <a:ext cx="8029500" cy="9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ru" sz="1400" dirty="0">
                <a:solidFill>
                  <a:schemeClr val="tx1"/>
                </a:solidFill>
              </a:rPr>
              <a:t>Студент группы </a:t>
            </a:r>
            <a:r>
              <a:rPr lang="ru" sz="1400" dirty="0">
                <a:solidFill>
                  <a:schemeClr val="tx1"/>
                </a:solidFill>
                <a:highlight>
                  <a:srgbClr val="FF0000"/>
                </a:highlight>
              </a:rPr>
              <a:t>М8О-408Б-20</a:t>
            </a:r>
            <a:r>
              <a:rPr lang="ru" sz="1400" dirty="0">
                <a:solidFill>
                  <a:schemeClr val="tx1"/>
                </a:solidFill>
              </a:rPr>
              <a:t>: Блинов Максим Алексеевич</a:t>
            </a:r>
            <a:endParaRPr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SzPts val="1400"/>
            </a:pPr>
            <a:r>
              <a:rPr lang="ru" sz="1400" dirty="0">
                <a:solidFill>
                  <a:schemeClr val="tx1"/>
                </a:solidFill>
              </a:rPr>
              <a:t>Научный руководитель: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М. Б. Булакина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ru" sz="1400" dirty="0">
                <a:solidFill>
                  <a:schemeClr val="tx1"/>
                </a:solidFill>
              </a:rPr>
              <a:t> к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ru-RU" sz="1400" dirty="0">
                <a:solidFill>
                  <a:schemeClr val="tx1"/>
                </a:solidFill>
              </a:rPr>
              <a:t>т.н.</a:t>
            </a:r>
            <a:r>
              <a:rPr lang="ru" sz="1400" dirty="0">
                <a:solidFill>
                  <a:schemeClr val="tx1"/>
                </a:solidFill>
              </a:rPr>
              <a:t>,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  <a:highlight>
                  <a:srgbClr val="FF0000"/>
                </a:highlight>
              </a:rPr>
              <a:t>доцент</a:t>
            </a:r>
            <a:r>
              <a:rPr lang="en-US" sz="1400" dirty="0">
                <a:solidFill>
                  <a:schemeClr val="tx1"/>
                </a:solidFill>
                <a:highlight>
                  <a:srgbClr val="FF0000"/>
                </a:highlight>
              </a:rPr>
              <a:t>, </a:t>
            </a:r>
            <a:r>
              <a:rPr lang="ru-RU" sz="1400" dirty="0">
                <a:solidFill>
                  <a:schemeClr val="tx1"/>
                </a:solidFill>
                <a:highlight>
                  <a:srgbClr val="FF0000"/>
                </a:highlight>
              </a:rPr>
              <a:t>доцент</a:t>
            </a:r>
            <a:r>
              <a:rPr lang="en-US" sz="1400" dirty="0">
                <a:solidFill>
                  <a:schemeClr val="tx1"/>
                </a:solidFill>
                <a:highlight>
                  <a:srgbClr val="FF0000"/>
                </a:highlight>
              </a:rPr>
              <a:t> </a:t>
            </a:r>
            <a:r>
              <a:rPr lang="ru-RU" sz="1400" dirty="0">
                <a:solidFill>
                  <a:schemeClr val="tx1"/>
                </a:solidFill>
                <a:highlight>
                  <a:srgbClr val="FF0000"/>
                </a:highlight>
              </a:rPr>
              <a:t>каф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ru-RU" sz="1400" dirty="0">
                <a:solidFill>
                  <a:schemeClr val="tx1"/>
                </a:solidFill>
              </a:rPr>
              <a:t> 806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4">
            <a:alphaModFix/>
          </a:blip>
          <a:srcRect l="16736"/>
          <a:stretch/>
        </p:blipFill>
        <p:spPr>
          <a:xfrm>
            <a:off x="1287359" y="489957"/>
            <a:ext cx="3919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/>
        </p:nvSpPr>
        <p:spPr>
          <a:xfrm>
            <a:off x="2487967" y="4807259"/>
            <a:ext cx="41682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Москва 202</a:t>
            </a:r>
            <a:r>
              <a:rPr lang="ru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317" y="479183"/>
            <a:ext cx="675649" cy="65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20006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>
                <a:latin typeface="Roboto"/>
                <a:ea typeface="Roboto"/>
                <a:cs typeface="Roboto"/>
              </a:rPr>
              <a:t>Актуальность 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269" y="1026431"/>
            <a:ext cx="8351215" cy="363176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Размеры языковых моделей растут экспоненциально:</a:t>
            </a:r>
          </a:p>
          <a:p>
            <a:pPr marL="0" indent="0" algn="l">
              <a:buNone/>
            </a:pPr>
            <a:endParaRPr lang="en-US" sz="3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en-US" sz="1700" dirty="0">
                <a:latin typeface="Roboto"/>
                <a:ea typeface="Roboto"/>
                <a:cs typeface="Roboto"/>
              </a:rPr>
              <a:t>  •  GPT-2 (2019):       1.5 </a:t>
            </a:r>
            <a:r>
              <a:rPr lang="ru-RU" sz="1700" dirty="0">
                <a:latin typeface="Roboto"/>
                <a:ea typeface="Roboto"/>
                <a:cs typeface="Roboto"/>
              </a:rPr>
              <a:t>млрд параметров  —  3 ГБ</a:t>
            </a: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•  LLaMA 3 70B (2024): 70 млрд параметров  —  140 ГБ</a:t>
            </a:r>
            <a:endParaRPr lang="ru" sz="1700" dirty="0">
              <a:latin typeface=""/>
              <a:ea typeface="Roboto"/>
              <a:cs typeface="Roboto"/>
            </a:endParaRPr>
          </a:p>
          <a:p>
            <a:r>
              <a:rPr lang="ru" sz="1700" dirty="0">
                <a:latin typeface=""/>
                <a:ea typeface="Roboto"/>
                <a:cs typeface="Roboto"/>
              </a:rPr>
              <a:t>  •  Falcon 180B (2023): 180 млрд параметров —  360 ГБ</a:t>
            </a:r>
          </a:p>
          <a:p>
            <a:r>
              <a:rPr lang="ru" sz="1700" dirty="0">
                <a:latin typeface=""/>
                <a:ea typeface="Roboto"/>
                <a:cs typeface="Roboto"/>
              </a:rPr>
              <a:t>  •  </a:t>
            </a:r>
            <a:r>
              <a:rPr lang="en-US" sz="1700" dirty="0">
                <a:latin typeface=""/>
                <a:ea typeface="Roboto"/>
                <a:cs typeface="Roboto"/>
              </a:rPr>
              <a:t>DeepSeek-R1 </a:t>
            </a:r>
            <a:r>
              <a:rPr lang="ru" sz="1700" dirty="0">
                <a:latin typeface=""/>
                <a:ea typeface="Roboto"/>
                <a:cs typeface="Roboto"/>
              </a:rPr>
              <a:t>(202</a:t>
            </a:r>
            <a:r>
              <a:rPr lang="en-US" sz="1700" dirty="0">
                <a:latin typeface=""/>
                <a:ea typeface="Roboto"/>
                <a:cs typeface="Roboto"/>
              </a:rPr>
              <a:t>5</a:t>
            </a:r>
            <a:r>
              <a:rPr lang="ru" sz="1700" dirty="0">
                <a:latin typeface=""/>
                <a:ea typeface="Roboto"/>
                <a:cs typeface="Roboto"/>
              </a:rPr>
              <a:t>): </a:t>
            </a:r>
            <a:r>
              <a:rPr lang="en-US" sz="1700" dirty="0">
                <a:latin typeface=""/>
                <a:ea typeface="Roboto"/>
                <a:cs typeface="Roboto"/>
              </a:rPr>
              <a:t>671</a:t>
            </a:r>
            <a:r>
              <a:rPr lang="ru" sz="1700" dirty="0">
                <a:latin typeface=""/>
                <a:ea typeface="Roboto"/>
                <a:cs typeface="Roboto"/>
              </a:rPr>
              <a:t> млрд параметров —  </a:t>
            </a:r>
            <a:r>
              <a:rPr lang="en-US" sz="1700" dirty="0">
                <a:latin typeface=""/>
                <a:ea typeface="Roboto"/>
                <a:cs typeface="Roboto"/>
              </a:rPr>
              <a:t>720</a:t>
            </a:r>
            <a:r>
              <a:rPr lang="ru" sz="1700" dirty="0">
                <a:latin typeface=""/>
                <a:ea typeface="Roboto"/>
                <a:cs typeface="Roboto"/>
              </a:rPr>
              <a:t> ГБ</a:t>
            </a:r>
          </a:p>
          <a:p>
            <a:r>
              <a:rPr lang="ru" sz="1700" dirty="0">
                <a:latin typeface=""/>
                <a:ea typeface="Roboto"/>
                <a:cs typeface="Roboto"/>
              </a:rPr>
              <a:t>  •  </a:t>
            </a:r>
            <a:r>
              <a:rPr lang="en-US" sz="1700" dirty="0">
                <a:latin typeface=""/>
                <a:ea typeface="Roboto"/>
                <a:cs typeface="Roboto"/>
              </a:rPr>
              <a:t>Llama 4 Behemoth </a:t>
            </a:r>
            <a:r>
              <a:rPr lang="ru" sz="1700" dirty="0">
                <a:latin typeface=""/>
                <a:ea typeface="Roboto"/>
                <a:cs typeface="Roboto"/>
              </a:rPr>
              <a:t>(2026): 2 трлн параметров —  </a:t>
            </a:r>
            <a:r>
              <a:rPr lang="en-US" sz="1700" dirty="0">
                <a:latin typeface=""/>
                <a:ea typeface="Roboto"/>
                <a:cs typeface="Roboto"/>
              </a:rPr>
              <a:t>2</a:t>
            </a:r>
            <a:r>
              <a:rPr lang="ru" sz="1700" dirty="0">
                <a:latin typeface=""/>
                <a:ea typeface="Roboto"/>
                <a:cs typeface="Roboto"/>
              </a:rPr>
              <a:t> ТБ</a:t>
            </a:r>
          </a:p>
          <a:p>
            <a:r>
              <a:rPr lang="ru-RU" sz="1700" dirty="0">
                <a:highlight>
                  <a:srgbClr val="FFFF00"/>
                </a:highlight>
                <a:latin typeface=""/>
                <a:ea typeface="Roboto"/>
                <a:cs typeface="Roboto"/>
              </a:rPr>
              <a:t>ДОБАВИТЬ ГРАФИК ВМЕСТО СПИСКА</a:t>
            </a:r>
            <a:endParaRPr sz="500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lang="ru" sz="18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Проблема холодного старта в serverless-инференсе:</a:t>
            </a: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•  При каждом scale-up Pod заново скачивает всю модель из интернета</a:t>
            </a: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•  15 ГБ × 200 МБ/с = 75 секунд до первого токена</a:t>
            </a: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•  10 одновременных реплик = 150 ГБ внешнего трафика</a:t>
            </a: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•  p99 latency первого запроса — минуты вместо секунд → нарушение SLA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85E14-CA08-FAD5-7C4E-22856178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>
                <a:latin typeface="Roboto"/>
                <a:ea typeface="Roboto"/>
                <a:cs typeface="Roboto"/>
              </a:rPr>
              <a:t>Цель и задачи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9516" y="898176"/>
            <a:ext cx="8351215" cy="447814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Цель: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700" i="1" dirty="0">
                <a:latin typeface="Roboto"/>
                <a:ea typeface="Roboto"/>
                <a:cs typeface="Roboto"/>
              </a:rPr>
              <a:t>Разработка архитектуры распределённого кэширования ML-моделей для serverless-инференса в Kubernetes, сокращающей задержку холодного старта и снижающей нагрузку на внешние репозитории.</a:t>
            </a:r>
            <a:r>
              <a:rPr lang="ru" sz="1700" i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 (</a:t>
            </a:r>
            <a:r>
              <a:rPr lang="en-US" sz="1700" i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c</a:t>
            </a:r>
            <a:r>
              <a:rPr lang="ru-RU" sz="1700" i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начала сократить потом </a:t>
            </a:r>
            <a:r>
              <a:rPr lang="ru-RU" sz="1700" i="1" dirty="0" err="1">
                <a:highlight>
                  <a:srgbClr val="FFFF00"/>
                </a:highlight>
                <a:latin typeface="Roboto"/>
                <a:ea typeface="Roboto"/>
                <a:cs typeface="Roboto"/>
              </a:rPr>
              <a:t>разаработать</a:t>
            </a:r>
            <a:r>
              <a:rPr lang="ru" sz="1700" i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)</a:t>
            </a:r>
          </a:p>
          <a:p>
            <a:pPr marL="0" indent="0" algn="l">
              <a:buNone/>
            </a:pPr>
            <a:br>
              <a:rPr lang="en-US" sz="1700" i="1" dirty="0">
                <a:latin typeface="Roboto"/>
                <a:ea typeface="Roboto"/>
                <a:cs typeface="Roboto"/>
              </a:rPr>
            </a:br>
            <a:r>
              <a:rPr lang="ru" sz="1800" b="1" dirty="0">
                <a:latin typeface="Roboto"/>
                <a:ea typeface="Roboto"/>
                <a:cs typeface="Roboto"/>
              </a:rPr>
              <a:t>Задачи: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1.  Анализ причин холодного старта и масштаба проблемы роста весов моделей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2.  Исследование существующих решений: Alluxio, JuiceFS, Dragonfly, CubeFS, Rook/Ceph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3.  Разработка NFS-этапа с координацией через flock и Kubernetes Lease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4.  Проектирование P2P/FUSE-архитектуры с трёхуровневой иерархией кэша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5.  Реализация storage-agent (DaemonSet) и storage-mounter (FUSE-клиент)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6.  Выбор механизма обнаружения узлов: Redis heartbeat vs Gossip vs mDNS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7.  Теоретический анализ: AMAT, Закон Литтла, Амдал, Ципф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8.  Формирование методики оценки эффективности с расчётными значениями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Добавить метрики НАДЕЖНОСТИ И ДОСТУПНОСТИ </a:t>
            </a:r>
            <a:r>
              <a:rPr lang="en-US" sz="1600" dirty="0">
                <a:latin typeface="Roboto"/>
                <a:ea typeface="Roboto"/>
                <a:cs typeface="Roboto"/>
              </a:rPr>
              <a:t>SLA 99,9</a:t>
            </a:r>
            <a:endParaRPr lang="ru" sz="1600" dirty="0"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914A5-117D-7A1B-B7AB-FB1DC4C0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32725"/>
            <a:ext cx="8520379" cy="95410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 dirty="0">
                <a:latin typeface="Roboto"/>
                <a:ea typeface="Roboto"/>
                <a:cs typeface="Roboto"/>
              </a:rPr>
              <a:t>Исходная архитектура </a:t>
            </a:r>
            <a:r>
              <a:rPr lang="ru" sz="2800" b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(КЛАССИЧЕСКАЯ АРХИТЕКТРУРА </a:t>
            </a:r>
            <a:r>
              <a:rPr lang="en-US" sz="2800" b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SERVERLESS)</a:t>
            </a:r>
            <a:endParaRPr lang="ru" sz="28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42527" y="1051560"/>
            <a:ext cx="4427153" cy="3600986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700" b="1" dirty="0">
                <a:latin typeface="Roboto"/>
                <a:ea typeface="Roboto"/>
                <a:cs typeface="Roboto"/>
              </a:rPr>
              <a:t>Схема: storage-initializer + emptyDir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1.  Scheduler помещает Pod на worker-ноду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2.  storage-initializer скачивает модель из HuggingFace в emptyDir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3.  runtime-container монтирует emptyDir, загружает в GPU</a:t>
            </a:r>
          </a:p>
          <a:p>
            <a:pPr marL="0" indent="0" algn="l">
              <a:buNone/>
            </a:pPr>
            <a:endParaRPr sz="6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700" b="1" dirty="0">
                <a:latin typeface="Roboto"/>
                <a:ea typeface="Roboto"/>
                <a:cs typeface="Roboto"/>
              </a:rPr>
              <a:t>Ключевые проблемы: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✕  Нет переиспользования — каждый Pod скачивает заново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✕  10 реплик = 10 загрузок = 150 ГБ внешнего трафика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✕  T_first_byte = T_model_ready ≈ 75 с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✕  Зависимость от доступности HuggingFace Hub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259DA-9111-CEF0-CDD9-0BE4B12F2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69" y="1384247"/>
            <a:ext cx="3299775" cy="2935611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ABCF9E-534A-66FC-FAA3-094B8195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>
                <a:latin typeface="Roboto"/>
                <a:ea typeface="Roboto"/>
                <a:cs typeface="Roboto"/>
              </a:rPr>
              <a:t>Требования к архитектуре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51560"/>
            <a:ext cx="4160520" cy="355481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Функциональные:</a:t>
            </a:r>
            <a:br>
              <a:rPr lang="ru" sz="1800" b="1" dirty="0">
                <a:latin typeface="Roboto"/>
                <a:ea typeface="Roboto"/>
                <a:cs typeface="Roboto"/>
              </a:rPr>
            </a:br>
            <a:endParaRPr lang="ru" sz="18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Переиспользование весов между запусками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P2P-передача чанков между нодами без HF Hub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Стандартный POSIX-интерфейс для ML-runtime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Автоматический fallback на внешний репозиторий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Совместимость с Kubernetes (DaemonSet, CSI)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Атомарная запись чанков (tmp → os.Rename)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51560"/>
            <a:ext cx="4069080" cy="3077766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Нефункциональные:</a:t>
            </a:r>
            <a:br>
              <a:rPr lang="ru" sz="1800" b="1" dirty="0">
                <a:latin typeface="Roboto"/>
                <a:ea typeface="Roboto"/>
                <a:cs typeface="Roboto"/>
              </a:rPr>
            </a:br>
            <a:endParaRPr lang="ru" sz="18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T_model_ready</a:t>
            </a:r>
            <a:r>
              <a:rPr lang="en-US" sz="1550" dirty="0">
                <a:latin typeface="Roboto"/>
                <a:ea typeface="Roboto"/>
                <a:cs typeface="Roboto"/>
              </a:rPr>
              <a:t> </a:t>
            </a:r>
            <a:r>
              <a:rPr lang="en-US" sz="1550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(</a:t>
            </a:r>
            <a:r>
              <a:rPr lang="ru-RU" sz="1550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написать что за метрика</a:t>
            </a:r>
            <a:r>
              <a:rPr lang="en-US" sz="1550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)</a:t>
            </a:r>
            <a:r>
              <a:rPr lang="ru" sz="1550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 </a:t>
            </a:r>
            <a:r>
              <a:rPr lang="ru" sz="1550" dirty="0">
                <a:latin typeface="Roboto"/>
                <a:ea typeface="Roboto"/>
                <a:cs typeface="Roboto"/>
              </a:rPr>
              <a:t>при local hit ≤ 3 с (15 ГБ)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T_first_byte (la</a:t>
            </a:r>
            <a:r>
              <a:rPr lang="en-US" sz="1550" dirty="0">
                <a:latin typeface="Roboto"/>
                <a:ea typeface="Roboto"/>
                <a:cs typeface="Roboto"/>
              </a:rPr>
              <a:t>`</a:t>
            </a:r>
            <a:r>
              <a:rPr lang="ru" sz="1550" dirty="0">
                <a:latin typeface="Roboto"/>
                <a:ea typeface="Roboto"/>
                <a:cs typeface="Roboto"/>
              </a:rPr>
              <a:t>zy FUSE loading) &lt; 1 с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Трафик N=10 реплик = 1× размер модели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Отказ worker-ноды → graceful degradation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Overhead FUSE (последов. чтение) ≤ 0.5% CPU</a:t>
            </a:r>
          </a:p>
          <a:p>
            <a:pPr marL="0" indent="0" algn="l">
              <a:buNone/>
            </a:pPr>
            <a:r>
              <a:rPr lang="ru" sz="1550" dirty="0">
                <a:latin typeface="Roboto"/>
                <a:ea typeface="Roboto"/>
                <a:cs typeface="Roboto"/>
              </a:rPr>
              <a:t>  •  Redis lookup latency p99 &lt; 5 мс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2EBF02-645D-B566-1DA4-9F57247B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48168"/>
            <a:ext cx="8520379" cy="52322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 dirty="0">
                <a:latin typeface="Roboto"/>
                <a:ea typeface="Roboto"/>
                <a:cs typeface="Roboto"/>
              </a:rPr>
              <a:t>Стек технологий </a:t>
            </a:r>
            <a:r>
              <a:rPr lang="ru" sz="2800" b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(СКИП</a:t>
            </a:r>
            <a:r>
              <a:rPr lang="en-US" sz="2800" b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, </a:t>
            </a:r>
            <a:r>
              <a:rPr lang="ru-RU" sz="2800" b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не зачитывать</a:t>
            </a:r>
            <a:r>
              <a:rPr lang="ru" sz="2800" b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3331681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Kubernetes</a:t>
            </a:r>
          </a:p>
          <a:p>
            <a:pPr marL="0" indent="0" algn="l">
              <a:buNone/>
            </a:pPr>
            <a:r>
              <a:rPr lang="ru" sz="15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Оркестрация: DaemonSet для storage-agent; PVC, CSI-интеграция</a:t>
            </a:r>
          </a:p>
          <a:p>
            <a:pPr marL="0" indent="0" algn="l">
              <a:buNone/>
            </a:pPr>
            <a:endParaRPr sz="25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Go</a:t>
            </a:r>
          </a:p>
          <a:p>
            <a:pPr marL="0" indent="0" algn="l">
              <a:buNone/>
            </a:pPr>
            <a:r>
              <a:rPr lang="ru" sz="15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Реализация storage-agent и storage-mounter; библиотека go-fuse</a:t>
            </a:r>
          </a:p>
          <a:p>
            <a:pPr marL="0" indent="0" algn="l">
              <a:buNone/>
            </a:pPr>
            <a:endParaRPr sz="25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Redis</a:t>
            </a:r>
          </a:p>
          <a:p>
            <a:pPr marL="0" indent="0" algn="l">
              <a:buNone/>
            </a:pPr>
            <a:r>
              <a:rPr lang="ru" sz="15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Реестр метаданных чанков: TTL-записи, heartbeat агентов (Sentinel / Cluster)</a:t>
            </a:r>
          </a:p>
          <a:p>
            <a:pPr marL="0" indent="0" algn="l">
              <a:buNone/>
            </a:pPr>
            <a:endParaRPr sz="25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FUSE (Linux)</a:t>
            </a:r>
          </a:p>
          <a:p>
            <a:pPr marL="0" indent="0" algn="l">
              <a:buNone/>
            </a:pPr>
            <a:r>
              <a:rPr lang="ru" sz="15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Виртуальная ФС — ML-runtime видит обычные файлы без изменений кода</a:t>
            </a:r>
          </a:p>
          <a:p>
            <a:pPr marL="0" indent="0" algn="l">
              <a:buNone/>
            </a:pPr>
            <a:endParaRPr sz="25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HuggingFace Hub</a:t>
            </a:r>
          </a:p>
          <a:p>
            <a:pPr marL="0" indent="0" algn="l">
              <a:buNone/>
            </a:pPr>
            <a:r>
              <a:rPr lang="ru" sz="15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Внешний репозиторий весов моделей; fallback-источник при отсутствии кэша</a:t>
            </a:r>
          </a:p>
          <a:p>
            <a:pPr marL="0" indent="0" algn="l">
              <a:buNone/>
            </a:pPr>
            <a:endParaRPr sz="25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NFS  ·  Docker  ·  Prometheus + Grafana</a:t>
            </a:r>
          </a:p>
          <a:p>
            <a:pPr marL="0" indent="0" algn="l">
              <a:buNone/>
            </a:pPr>
            <a:r>
              <a:rPr lang="ru" sz="15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Промежуточный этап с flock / Lease; контейнеризация; мониторинг hit rate и latency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2E958-C196-59A6-1544-A2CFEE5A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32725"/>
            <a:ext cx="8520379" cy="95410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 dirty="0">
                <a:latin typeface="Roboto"/>
                <a:ea typeface="Roboto"/>
                <a:cs typeface="Roboto"/>
              </a:rPr>
              <a:t>Предложенная архитектура </a:t>
            </a:r>
            <a:r>
              <a:rPr lang="ru" sz="2800" b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(СДЕЛАТЬ ЧИТАЕМЕЕ</a:t>
            </a:r>
            <a:r>
              <a:rPr lang="ru" sz="2800" b="1" dirty="0">
                <a:latin typeface="Roboto"/>
                <a:ea typeface="Roboto"/>
                <a:cs typeface="Roboto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60" y="1051560"/>
            <a:ext cx="3246120" cy="379476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storage-agent  (DaemonSet)</a:t>
            </a:r>
          </a:p>
          <a:p>
            <a:pPr marL="0" indent="0" algn="l">
              <a:buNone/>
            </a:pPr>
            <a:r>
              <a:rPr lang="ru" sz="1400" dirty="0">
                <a:latin typeface="Roboto"/>
                <a:ea typeface="Roboto"/>
                <a:cs typeface="Roboto"/>
              </a:rPr>
              <a:t>  chunk-кэш на NVMe · UDS → mounter · TCP → пиры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storage-mounter  (FUSE)</a:t>
            </a:r>
          </a:p>
          <a:p>
            <a:pPr marL="0" indent="0" algn="l">
              <a:buNone/>
            </a:pPr>
            <a:r>
              <a:rPr lang="ru" sz="1400" dirty="0">
                <a:latin typeface="Roboto"/>
                <a:ea typeface="Roboto"/>
                <a:cs typeface="Roboto"/>
              </a:rPr>
              <a:t>  виртуальная ФС · lazy loading · T_first_byte &lt; 1 с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Redis Cluster</a:t>
            </a:r>
          </a:p>
          <a:p>
            <a:pPr marL="0" indent="0" algn="l">
              <a:buNone/>
            </a:pPr>
            <a:r>
              <a:rPr lang="ru" sz="1400" dirty="0">
                <a:latin typeface="Roboto"/>
                <a:ea typeface="Roboto"/>
                <a:cs typeface="Roboto"/>
              </a:rPr>
              <a:t>  реестр чанков · heartbeat 10 с · TTL 30 с</a:t>
            </a:r>
          </a:p>
          <a:p>
            <a:pPr marL="0" indent="0" algn="l">
              <a:buNone/>
            </a:pPr>
            <a:endParaRPr sz="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Алгоритм чтения чанка: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400" dirty="0">
                <a:latin typeface="Roboto"/>
                <a:ea typeface="Roboto"/>
                <a:cs typeface="Roboto"/>
              </a:rPr>
              <a:t>  1. Локальный NVMe         →  2.3 мс</a:t>
            </a:r>
          </a:p>
          <a:p>
            <a:pPr marL="0" indent="0" algn="l">
              <a:buNone/>
            </a:pPr>
            <a:r>
              <a:rPr lang="ru" sz="1400" dirty="0">
                <a:latin typeface="Roboto"/>
                <a:ea typeface="Roboto"/>
                <a:cs typeface="Roboto"/>
              </a:rPr>
              <a:t>  2. Соседняя нода (P2P)    →  13.3 мс</a:t>
            </a:r>
          </a:p>
          <a:p>
            <a:pPr marL="0" indent="0" algn="l">
              <a:buNone/>
            </a:pPr>
            <a:r>
              <a:rPr lang="ru" sz="1400" dirty="0">
                <a:latin typeface="Roboto"/>
                <a:ea typeface="Roboto"/>
                <a:cs typeface="Roboto"/>
              </a:rPr>
              <a:t>  3. HuggingFace (fallback)  →  130+ мс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31E2B4-B0AF-2EEF-F99F-DDCCFDCB1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52" y="864040"/>
            <a:ext cx="5363108" cy="41698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D46C6B-5E2E-3B97-4B6E-008F25B5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>
                <a:latin typeface="Roboto"/>
                <a:ea typeface="Roboto"/>
                <a:cs typeface="Roboto"/>
              </a:rPr>
              <a:t>Нагрузочное 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51560"/>
            <a:ext cx="4635094" cy="3123932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Тестовый стенд:</a:t>
            </a: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•  6 worker-нод: Intel Xeon Silver, 16c/32t, 64 ГБ RAM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•  Samsung 980 Pro NVMe 2 ТБ — seq. read 7 000 МБ/с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•  Сеть: 10 Гбит/с Ethernet, RTT ≤ 0.5 мс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•  Redis: 1 master + 2 replica</a:t>
            </a:r>
          </a:p>
          <a:p>
            <a:pPr marL="0" indent="0" algn="l">
              <a:buNone/>
            </a:pPr>
            <a:endParaRPr lang="ru" sz="1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sz="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Тестовые модели:</a:t>
            </a: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•  Llama 3 8B   —  15 ГБ,  960 чанков × 16 МБ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•  Mistral 7B   —  14 ГБ,  896 чанков × 16 МБ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•  Llama 3 70B  —  140 ГБ, 8 960 чанков × 16 МБ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51560"/>
            <a:ext cx="4069080" cy="384048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>
                <a:latin typeface="Roboto"/>
                <a:ea typeface="Roboto"/>
                <a:cs typeface="Roboto"/>
              </a:rPr>
              <a:t>Сценарии:</a:t>
            </a:r>
          </a:p>
          <a:p>
            <a:pPr marL="0" indent="0" algn="l">
              <a:buNone/>
            </a:pPr>
            <a:endParaRPr sz="30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00">
                <a:latin typeface="Roboto"/>
                <a:ea typeface="Roboto"/>
                <a:cs typeface="Roboto"/>
              </a:rPr>
              <a:t>  1.  Cold cluster — кэш пуст, Redis пуст</a:t>
            </a:r>
          </a:p>
          <a:p>
            <a:pPr marL="0" indent="0" algn="l">
              <a:buNone/>
            </a:pPr>
            <a:r>
              <a:rPr lang="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первый запуск в кластере</a:t>
            </a:r>
          </a:p>
          <a:p>
            <a:pPr marL="0" indent="0" algn="l">
              <a:buNone/>
            </a:pPr>
            <a:endParaRPr sz="20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00">
                <a:latin typeface="Roboto"/>
                <a:ea typeface="Roboto"/>
                <a:cs typeface="Roboto"/>
              </a:rPr>
              <a:t>  2.  Warm (same node) — local cache hit</a:t>
            </a:r>
          </a:p>
          <a:p>
            <a:pPr marL="0" indent="0" algn="l">
              <a:buNone/>
            </a:pPr>
            <a:r>
              <a:rPr lang="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модель уже есть на той же ноде</a:t>
            </a:r>
          </a:p>
          <a:p>
            <a:pPr marL="0" indent="0" algn="l">
              <a:buNone/>
            </a:pPr>
            <a:endParaRPr sz="20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00">
                <a:latin typeface="Roboto"/>
                <a:ea typeface="Roboto"/>
                <a:cs typeface="Roboto"/>
              </a:rPr>
              <a:t>  3.  Warm (peer node) — P2P peer cache hit</a:t>
            </a:r>
          </a:p>
          <a:p>
            <a:pPr marL="0" indent="0" algn="l">
              <a:buNone/>
            </a:pPr>
            <a:r>
              <a:rPr lang="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модель есть на соседней ноде</a:t>
            </a:r>
          </a:p>
          <a:p>
            <a:pPr marL="0" indent="0" algn="l">
              <a:buNone/>
            </a:pPr>
            <a:endParaRPr sz="20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500">
                <a:latin typeface="Roboto"/>
                <a:ea typeface="Roboto"/>
                <a:cs typeface="Roboto"/>
              </a:rPr>
              <a:t>  4.  Burst ×10 — 10 подов одновременно</a:t>
            </a:r>
          </a:p>
          <a:p>
            <a:pPr marL="0" indent="0" algn="l">
              <a:buNone/>
            </a:pPr>
            <a:r>
              <a:rPr lang="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суммарный трафик и p99 по репликам</a:t>
            </a:r>
          </a:p>
          <a:p>
            <a:pPr marL="0" indent="0" algn="l">
              <a:buNone/>
            </a:pPr>
            <a:endParaRPr sz="50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250" i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Метрики: T_model_ready (p50/p99)  ·  T_first_byte  ·  V_ext  ·  Redis p99  ·  CPU FUSE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6022F-A550-ACD3-E65D-76480BA0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48168"/>
            <a:ext cx="8520379" cy="52322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 dirty="0">
                <a:latin typeface="Roboto"/>
                <a:ea typeface="Roboto"/>
                <a:cs typeface="Roboto"/>
              </a:rPr>
              <a:t>Результаты тестирования (НЕ ЗАЧИТЫВАТЬ)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312192"/>
              </p:ext>
            </p:extLst>
          </p:nvPr>
        </p:nvGraphicFramePr>
        <p:xfrm>
          <a:off x="274320" y="771940"/>
          <a:ext cx="86410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Roboto"/>
                        </a:rPr>
                        <a:t>Показатель</a:t>
                      </a:r>
                      <a:endParaRPr sz="1300" b="1" dirty="0">
                        <a:solidFill>
                          <a:srgbClr val="FFFFFF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emptyDir (baseline)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NFS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P2P / FUSE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T_model_ready,  cold cluster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T_model_ready,  warm (same node)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~12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~2 с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T_model_ready,  warm (peer node)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~12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~12 с  ✓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T_first_byte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&lt; 1 с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Внешний трафик,  N = 10 реплик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150 ГБ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15 ГБ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15 ГБ  ✓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SPOF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NFS-сервер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Redis (HA → нет)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  <a:latin typeface="Roboto"/>
                        </a:rPr>
                        <a:t>Деградация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при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Roboto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отказе</a:t>
                      </a:r>
                      <a:endParaRPr sz="12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полная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graceful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Redis lookup  p50 /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&lt; 1 мс / &lt; 5 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CPU overhead FUSE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  <a:latin typeface="Roboto"/>
                        </a:rPr>
                        <a:t>&lt; 0.5 %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87826" y="4503420"/>
            <a:ext cx="6927574" cy="52322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400" b="1" dirty="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×36 ускорение (local cache)         ·       ×6 ускорение (peer cache)   ·  </a:t>
            </a:r>
          </a:p>
          <a:p>
            <a:pPr marL="0" indent="0" algn="l">
              <a:buNone/>
            </a:pPr>
            <a:r>
              <a:rPr lang="ru" sz="1400" b="1" dirty="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×10 снижение трафика при N=10   ·   ×30 снижение AMAT (130 мс → 4.3 мс)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C2F474-5E5C-9D76-DE20-A3EF60A8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-182719"/>
            <a:ext cx="8520379" cy="1384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 dirty="0">
                <a:latin typeface="Roboto"/>
                <a:ea typeface="Roboto"/>
                <a:cs typeface="Roboto"/>
              </a:rPr>
              <a:t>Анализ надёжности </a:t>
            </a:r>
            <a:r>
              <a:rPr lang="ru" sz="2800" b="1" dirty="0">
                <a:highlight>
                  <a:srgbClr val="FFFF00"/>
                </a:highlight>
                <a:latin typeface="Roboto"/>
                <a:ea typeface="Roboto"/>
                <a:cs typeface="Roboto"/>
              </a:rPr>
              <a:t>(ПРОВЕСТИ ДОПОЛНИТЕЛЬНО ТЕСТИРОВАНИЕ И ВСТАВИТЬ РЕЗУЛЬТАТЫ)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391" y="1397691"/>
            <a:ext cx="8351215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Сценарий 1: Отказ worker-ноды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TTL-записи агента в Redis истекают через 30 с — автоматическая очистка метаданных.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При r = 2 репликах: P(потери чанка) = 10⁻⁴;   при r = 3: P = 10⁻⁶</a:t>
            </a:r>
          </a:p>
          <a:p>
            <a:pPr marL="0" indent="0" algn="l">
              <a:buNone/>
            </a:pPr>
            <a:r>
              <a:rPr lang="ru" sz="1500" dirty="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Результат: деградация к HuggingFace fallback — сервис не останавливается</a:t>
            </a:r>
          </a:p>
          <a:p>
            <a:pPr marL="0" indent="0" algn="l">
              <a:buNone/>
            </a:pPr>
            <a:endParaRPr sz="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Сценарий 2: Недоступность Redis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Агент теряет peer discovery, перестаёт видеть соседей.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Система работает по схеме: local cache → HuggingFace (без P2P-уровня).</a:t>
            </a:r>
          </a:p>
          <a:p>
            <a:pPr marL="0" indent="0" algn="l">
              <a:buNone/>
            </a:pPr>
            <a:r>
              <a:rPr lang="ru" sz="1500" dirty="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Результат: сервис продолжает работу при наличии локального кэша</a:t>
            </a:r>
          </a:p>
          <a:p>
            <a:pPr marL="0" indent="0" algn="l">
              <a:buNone/>
            </a:pPr>
            <a:endParaRPr sz="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Сценарий 3: Недоступность HuggingFace Hub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Чанки из local / peer cache обслуживаются полностью автономно.</a:t>
            </a:r>
          </a:p>
          <a:p>
            <a:pPr marL="0" indent="0" algn="l">
              <a:buNone/>
            </a:pPr>
            <a:r>
              <a:rPr lang="ru" sz="1500" dirty="0">
                <a:latin typeface="Roboto"/>
                <a:ea typeface="Roboto"/>
                <a:cs typeface="Roboto"/>
              </a:rPr>
              <a:t>  Прогретый кластер изолирован от внешнего источника.</a:t>
            </a:r>
          </a:p>
          <a:p>
            <a:pPr marL="0" indent="0" algn="l">
              <a:buNone/>
            </a:pPr>
            <a:r>
              <a:rPr lang="ru" sz="1500" dirty="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NFS при отказе сервера → полная остановка;  P2P/FUSE → graceful degradation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9357F-FB2F-1396-8561-644E0F7F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>
                <a:latin typeface="Roboto"/>
                <a:ea typeface="Roboto"/>
                <a:cs typeface="Roboto"/>
              </a:rPr>
              <a:t>Итоги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391" y="860530"/>
            <a:ext cx="8351215" cy="3985706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Выполненные задачи: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✓  Проведён анализ причин и масштаба проблемы cold start в serverless ML inference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✓  Исследованы и сравнены 5 решений: Alluxio, JuiceFS, Dragonfly, CubeFS, Rook/Ceph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✓  Разработан NFS-этап с Leader Election через Kubernetes Lease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✓  Спроектирована P2P/FUSE-архитектура с трёхуровневой иерархией кэша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✓  Реализованы storage-agent (DaemonSet) и storage-mounter (FUSE)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✓  Обоснован выбор Redis heartbeat vs Gossip Protocol vs mDNS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✓  Анализ: AMAT, Закон Литтла, Амдал, Ципф</a:t>
            </a:r>
            <a:br>
              <a:rPr lang="en-US" sz="1600" dirty="0">
                <a:latin typeface="Roboto"/>
                <a:ea typeface="Roboto"/>
                <a:cs typeface="Roboto"/>
              </a:rPr>
            </a:br>
            <a:endParaRPr sz="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Практическая ценность: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•  135 ГБ экономии внешнего трафика при 10 репликах Llama 3 8B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•  T_model_ready: 75 с → 2 с при прогретом кластере  (×36 ускорение)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•  T_first_byte &lt; 1 с благодаря FUSE lazy loading  (было 75 с)</a:t>
            </a:r>
          </a:p>
          <a:p>
            <a:pPr marL="0" indent="0" algn="l">
              <a:buNone/>
            </a:pPr>
            <a:r>
              <a:rPr lang="ru" sz="1600" dirty="0">
                <a:latin typeface="Roboto"/>
                <a:ea typeface="Roboto"/>
                <a:cs typeface="Roboto"/>
              </a:rPr>
              <a:t>  •  Устранение NFS как единственной точки отказа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27FEA-C266-2321-156A-D11C887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>
                <a:latin typeface="Roboto"/>
                <a:ea typeface="Roboto"/>
                <a:cs typeface="Roboto"/>
              </a:rPr>
              <a:t>Направления дальнейшего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1.  Gossip-based peer discovery — P2P без зависимости от Redis</a:t>
            </a: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2.  mTLS между storage-agent — аутентификация TCP для production</a:t>
            </a: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3.  Cache warming — предзагрузка по расписанию, Zipf-прогнозирование</a:t>
            </a: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4.  CSI-плагин — нативная интеграция с Kubernetes PVC</a:t>
            </a: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5.  Поддержка Ollama и ModelScope помимо HuggingFace Hub</a:t>
            </a:r>
          </a:p>
          <a:p>
            <a:pPr marL="0" indent="0" algn="l">
              <a:buNone/>
            </a:pPr>
            <a:r>
              <a:rPr lang="ru" sz="1700" dirty="0">
                <a:latin typeface="Roboto"/>
                <a:ea typeface="Roboto"/>
                <a:cs typeface="Roboto"/>
              </a:rPr>
              <a:t>  6.  Экспериментальная валидация на реальном GPU-кластере с vLLM</a:t>
            </a:r>
          </a:p>
          <a:p>
            <a:pPr marL="0" indent="0" algn="l">
              <a:buNone/>
            </a:pPr>
            <a:endParaRPr sz="8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700" b="1" i="1" dirty="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Система позволяет сократить задержку холодного старта на порядок при отсутствии деградации надёжности — что критично для production serverless ML inference.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2F126-CFB3-AC50-4D6E-B3928E54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</TotalTime>
  <Words>2612</Words>
  <Application>Microsoft Macintosh PowerPoint</Application>
  <PresentationFormat>On-screen Show (16:9)</PresentationFormat>
  <Paragraphs>267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Roboto</vt:lpstr>
      <vt:lpstr>Office Theme</vt:lpstr>
      <vt:lpstr>Выпускная квалификационная работа магистра на тему: Оптимизация холодного старта и масштабирования моделей машинного обучения в бессерверном инференсе для обеспечения надёжности и высокой доступности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Максим Блинов</cp:lastModifiedBy>
  <cp:revision>16</cp:revision>
  <dcterms:created xsi:type="dcterms:W3CDTF">2013-01-27T09:14:16Z</dcterms:created>
  <dcterms:modified xsi:type="dcterms:W3CDTF">2026-05-11T09:19:07Z</dcterms:modified>
  <cp:category/>
</cp:coreProperties>
</file>