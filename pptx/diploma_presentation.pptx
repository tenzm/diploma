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08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DBDBD"/>
                </a:solidFill>
                <a:latin typeface="Calibri"/>
              </a:rPr>
              <a:t>МОСКОВСКИЙ АВИАЦИОННЫЙ ИНСТИТУТ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908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BDBD"/>
                </a:solidFill>
                <a:latin typeface="Calibri"/>
              </a:rPr>
              <a:t>(национальный исследовательский университет)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960120"/>
            <a:ext cx="7616952" cy="228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Оптимизация холодного старта и масштабирования моделей машинного обучения в бессерверном инференсе для обеспечения надёжности и высокой доступности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00400"/>
            <a:ext cx="7616952" cy="2286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BDBD"/>
                </a:solidFill>
                <a:latin typeface="Calibri"/>
              </a:rPr>
              <a:t>02.04.02 Фундаментальная информатика и информационные технологии  ·  Институт №8  ·  Кафедра 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8531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Студент:  Блинов Максим Алексеевич  ·  М8О-209СВ-24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251960"/>
            <a:ext cx="8531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Научный руководитель:  Булакина Мария Борисовна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DBDBD"/>
                </a:solidFill>
                <a:latin typeface="Calibri"/>
              </a:rPr>
              <a:t>Москва,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D1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28816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BDBD"/>
                </a:solidFill>
                <a:latin typeface="Calibri"/>
              </a:rPr>
              <a:t>Выпускная квалификационная работа магистра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Актуальность 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5836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53"/>
                </a:solidFill>
                <a:latin typeface="Calibri"/>
              </a:rPr>
              <a:t>Рост размеров ML-моделей → проблема холодного старта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  <a:latin typeface="Calibri"/>
              </a:rPr>
              <a:t>Ключевые тенденции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53619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A1A2E"/>
                </a:solidFill>
                <a:latin typeface="Calibri"/>
              </a:rPr>
              <a:t>•  Размеры LLM растут экспоненциально (+40× за 5 лет)</a:t>
            </a:r>
          </a:p>
          <a:p>
            <a:r>
              <a:rPr sz="1500" b="0">
                <a:solidFill>
                  <a:srgbClr val="1A1A2E"/>
                </a:solidFill>
                <a:latin typeface="Calibri"/>
              </a:rPr>
              <a:t>•  Serverless-инференс (scale-to-zero) — стандарт облачных платформ</a:t>
            </a:r>
          </a:p>
          <a:p>
            <a:r>
              <a:rPr sz="1500" b="0">
                <a:solidFill>
                  <a:srgbClr val="1A1A2E"/>
                </a:solidFill>
                <a:latin typeface="Calibri"/>
              </a:rPr>
              <a:t>•  При каждом холодном старте под скачивает всю модель заново</a:t>
            </a:r>
          </a:p>
          <a:p>
            <a:r>
              <a:rPr sz="1500" b="0">
                <a:solidFill>
                  <a:srgbClr val="1A1A2E"/>
                </a:solidFill>
                <a:latin typeface="Calibri"/>
              </a:rPr>
              <a:t>•  15 ГБ модели = ~75 с загрузки при 200 МБ/с канале</a:t>
            </a:r>
          </a:p>
          <a:p>
            <a:r>
              <a:rPr sz="1500" b="0">
                <a:solidFill>
                  <a:srgbClr val="1A1A2E"/>
                </a:solidFill>
                <a:latin typeface="Calibri"/>
              </a:rPr>
              <a:t>•  10 реплик = 150 ГБ внешнего трафика за одну волну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03320"/>
            <a:ext cx="5577840" cy="123444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703320"/>
            <a:ext cx="64008" cy="12344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7764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53935"/>
                </a:solidFill>
                <a:latin typeface="Calibri"/>
              </a:rPr>
              <a:t>Нарушение SLA: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96512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p99 latency первого запроса = минуты вместо секунд
T_first_byte ≈ T_model_ready ≈ 75 с — инференс не начнётся раньше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188720"/>
            <a:ext cx="5852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  <a:latin typeface="Calibri"/>
              </a:rPr>
              <a:t>Рост размеров моделей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80" y="1554480"/>
          <a:ext cx="58521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47679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Модель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Год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Параметры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Размер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GPT-2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1.5 млрд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~3 ГБ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GPT-3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175 млрд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~350 ГБ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LLaMA 2 7B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7 млрд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~13 ГБ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LLaMA 3 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8 млрд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~15 ГБ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LLaMA 3 70B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70 млрд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~140 ГБ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76796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Falcon 180B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180 млрд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~360 ГБ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126480" y="4956048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↑ +40× рост за 5 лет при использовании fp16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Цель и задачи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877824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64008" cy="87782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43584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Цель: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17904"/>
            <a:ext cx="11457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Разработка архитектуры распределённого кэширования ML-моделей для serverless-инференса в Kubernetes, сокращающей задержку холодного старта и снижающей нагрузку на внешние репозитории.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74320" cy="31089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224942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240280"/>
            <a:ext cx="53172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Анализ причин холодного старта и масштаба проблемы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274320" cy="31089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311810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08960"/>
            <a:ext cx="53172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Исследование существующих решений (Alluxio, JuiceFS, Dragonfly, CubeFS, Ceph)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77640"/>
            <a:ext cx="274320" cy="31089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0896" y="398678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977640"/>
            <a:ext cx="53172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Разработка NFS-этапа с координацией через файловые блокировки и Kubernetes Lease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46319"/>
            <a:ext cx="274320" cy="31089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" y="4855463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846319"/>
            <a:ext cx="53172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Проектирование P2P/FUSE-архитектуры с трёхуровневой иерархией кэша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715000"/>
            <a:ext cx="274320" cy="31089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" y="572414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15000"/>
            <a:ext cx="531723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Реализация storage-agent как DaemonSet на каждой worker-ноде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5916" y="2240280"/>
            <a:ext cx="274320" cy="31089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2492" y="224942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9964" y="2240280"/>
            <a:ext cx="54086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Реализация storage-mounter — FUSE-клиента с lazy loading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85916" y="3108960"/>
            <a:ext cx="274320" cy="31089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22492" y="311810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9964" y="3108960"/>
            <a:ext cx="54086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Выбор механизма обнаружения узлов: Redis heartbeat vs Gossip vs mDNS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85916" y="3977640"/>
            <a:ext cx="274320" cy="31089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2492" y="398678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9964" y="3977640"/>
            <a:ext cx="54086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Проектирование Redis-реестра метаданных чанков с TTL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85916" y="4846319"/>
            <a:ext cx="274320" cy="31089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2492" y="4855463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9964" y="4846319"/>
            <a:ext cx="54086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Анализ надёжности и сценариев отказов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5916" y="5715000"/>
            <a:ext cx="274320" cy="310896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2492" y="5724144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9964" y="5715000"/>
            <a:ext cx="540867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Формирование методики оценки эффективности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Исходная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5836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53"/>
                </a:solidFill>
                <a:latin typeface="Calibri"/>
              </a:rPr>
              <a:t>storage-initializer + emptyDir — текущая практика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6675120" cy="5394960"/>
          </a:xfrm>
          <a:prstGeom prst="rect">
            <a:avLst/>
          </a:prstGeom>
          <a:solidFill>
            <a:srgbClr val="F8F9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Calibri"/>
              </a:rPr>
              <a:t>Жизненный цикл пода при холодном старте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329184" cy="32918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7007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69164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Scheduler помещает Pod на worker-ноду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2996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BDBD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578608"/>
            <a:ext cx="329184" cy="32918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5877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57860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storage-initializer стартует, подключается к HuggingFace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16936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BDBD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65576"/>
            <a:ext cx="329184" cy="32918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474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46557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Скачивание весов модели в emptyDir  (~75 с для 15 ГБ)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803904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BDBD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52544"/>
            <a:ext cx="329184" cy="32918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361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352544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runtime-container монтирует emptyDir и загружает модель в GPU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690872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BDBD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39511"/>
            <a:ext cx="329184" cy="32918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5248655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239511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Pod готов к инференсу  (T_model_ready ≈ 75–180 с)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188720"/>
            <a:ext cx="47365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37E"/>
                </a:solidFill>
                <a:latin typeface="Calibri"/>
              </a:rPr>
              <a:t>Проблемы подхода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1600200"/>
            <a:ext cx="4736592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8040" y="1600200"/>
            <a:ext cx="54864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7768" y="1655064"/>
            <a:ext cx="4599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alibri"/>
              </a:rPr>
              <a:t>❌  Нет переиспользования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7768" y="1947672"/>
            <a:ext cx="4599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Каждый Pod скачивает модель
заново из интернета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2606040"/>
            <a:ext cx="4736592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78040" y="2606040"/>
            <a:ext cx="54864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87768" y="2660904"/>
            <a:ext cx="4599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alibri"/>
              </a:rPr>
              <a:t>❌  Огромный трафик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7768" y="2953512"/>
            <a:ext cx="4599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N реплик = N × размер модели
10 × 15 ГБ = 150 ГБ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3611880"/>
            <a:ext cx="4736592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78040" y="3611880"/>
            <a:ext cx="54864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87768" y="3666744"/>
            <a:ext cx="4599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alibri"/>
              </a:rPr>
              <a:t>❌  Нет lazy loading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7768" y="3959352"/>
            <a:ext cx="4599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T_first_byte = T_model_ready
Инференс ждёт полной загрузки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8040" y="4617720"/>
            <a:ext cx="4736592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78040" y="4617720"/>
            <a:ext cx="54864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87768" y="4672584"/>
            <a:ext cx="4599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alibri"/>
              </a:rPr>
              <a:t>❌  Зависимость от HF Hub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87768" y="4965192"/>
            <a:ext cx="4599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Недоступность репозитория
→ полная остановка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5623560"/>
            <a:ext cx="4736592" cy="9144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8040" y="5623560"/>
            <a:ext cx="54864" cy="9144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87768" y="5678424"/>
            <a:ext cx="4599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alibri"/>
              </a:rPr>
              <a:t>❌  SLA невыполним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87768" y="5971032"/>
            <a:ext cx="45994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p99 &gt; 75 с при scale-to-zero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Требования к архитектуре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5577840" cy="32918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Функциональные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9344"/>
            <a:ext cx="557784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664208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✓  Переиспользование весов между запусками (кэш на ноде)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13432"/>
            <a:ext cx="5577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368296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✓  P2P-передача чанков между нодами без внешнего источника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57784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3072384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✓  Стандартный POSIX-интерфейс для ML-runtime (без изменений кода)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21608"/>
            <a:ext cx="5577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776472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✓  Автоматический fallback на HuggingFace Hub при отсутствии кэша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25696"/>
            <a:ext cx="557784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480560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✓  Совместимость с Kubernetes (DaemonSet, CSI, PVC)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129784"/>
            <a:ext cx="55778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5184648"/>
            <a:ext cx="5440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✓  Атомарная запись чанков (tmp-файл + os.Rename) для консистентности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3912" y="1207008"/>
            <a:ext cx="5760720" cy="32918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24358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Нефункциональные (с целевыми значениями)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3912" y="1609344"/>
            <a:ext cx="576072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7064" y="1664208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T_model_ready, local cache hit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166420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Calibri"/>
              </a:rPr>
              <a:t>≤ 3 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193852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  <a:latin typeface="Calibri"/>
              </a:rPr>
              <a:t>для 15 ГБ модели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3912" y="2313432"/>
            <a:ext cx="5760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2368296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T_first_byte, lazy FUSE loading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236829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Calibri"/>
              </a:rPr>
              <a:t>&lt; 1 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992" y="264261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  <a:latin typeface="Calibri"/>
              </a:rPr>
              <a:t>принципиально ≠ 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3912" y="3017520"/>
            <a:ext cx="576072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3072384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Внешний трафик при N=10 репликах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07238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Calibri"/>
              </a:rPr>
              <a:t>= 1× модель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334670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  <a:latin typeface="Calibri"/>
              </a:rPr>
              <a:t>не N×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53912" y="3721608"/>
            <a:ext cx="5760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7064" y="3776472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Отказ одной worker-ноды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79992" y="37764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Calibri"/>
              </a:rPr>
              <a:t>graceful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9992" y="40507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  <a:latin typeface="Calibri"/>
              </a:rPr>
              <a:t>без полной остановки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53912" y="4425696"/>
            <a:ext cx="5760720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4480560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Overhead FUSE, последов. чтение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9992" y="44805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Calibri"/>
              </a:rPr>
              <a:t>≤ 0.5%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9992" y="475488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  <a:latin typeface="Calibri"/>
              </a:rPr>
              <a:t>CPU при 16-МБ чанках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53912" y="5129784"/>
            <a:ext cx="57607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7064" y="5184648"/>
            <a:ext cx="2834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Redis lookup 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9992" y="51846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Calibri"/>
              </a:rPr>
              <a:t>p99 &lt; 5 мс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9992" y="54589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  <a:latin typeface="Calibri"/>
              </a:rPr>
              <a:t>p50 &lt; 1 мс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Стек технологий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207008"/>
            <a:ext cx="282321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207008"/>
            <a:ext cx="2823210" cy="91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53312"/>
            <a:ext cx="264033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Kubernetes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47088"/>
            <a:ext cx="264033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  <a:latin typeface="Calibri"/>
              </a:rPr>
              <a:t>Оркестрация: DaemonSet для storage-agent,
PVC и CSI-интеграция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98114" y="1207008"/>
            <a:ext cx="282321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98114" y="1207008"/>
            <a:ext cx="2823210" cy="9144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9554" y="1353312"/>
            <a:ext cx="264033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51B5"/>
                </a:solidFill>
                <a:latin typeface="Calibri"/>
              </a:rPr>
              <a:t>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9554" y="1847088"/>
            <a:ext cx="264033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  <a:latin typeface="Calibri"/>
              </a:rPr>
              <a:t>Реализация storage-agent и storage-mounter;
bazefuse (go-fuse) библиотека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0196" y="1207008"/>
            <a:ext cx="282321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0196" y="1207008"/>
            <a:ext cx="2823210" cy="91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1636" y="1353312"/>
            <a:ext cx="264033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0000"/>
                </a:solidFill>
                <a:latin typeface="Calibri"/>
              </a:rPr>
              <a:t>Redis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1636" y="1847088"/>
            <a:ext cx="264033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  <a:latin typeface="Calibri"/>
              </a:rPr>
              <a:t>Реестр метаданных чанков: TTL-записи,
heartbeat агентов, Sentinel/Cluster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2278" y="1207008"/>
            <a:ext cx="282321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2278" y="1207008"/>
            <a:ext cx="2823210" cy="91440"/>
          </a:xfrm>
          <a:prstGeom prst="rect">
            <a:avLst/>
          </a:prstGeom>
          <a:solidFill>
            <a:srgbClr val="336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3718" y="1353312"/>
            <a:ext cx="264033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369E8"/>
                </a:solidFill>
                <a:latin typeface="Calibri"/>
              </a:rPr>
              <a:t>FUSE (Linux)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3718" y="1847088"/>
            <a:ext cx="264033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  <a:latin typeface="Calibri"/>
              </a:rPr>
              <a:t>Виртуальная ФС для прозрачного доступа
ML-runtime к чанкам без изменений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566160"/>
            <a:ext cx="282321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3566160"/>
            <a:ext cx="2823210" cy="9144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712464"/>
            <a:ext cx="264033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91E2"/>
                </a:solidFill>
                <a:latin typeface="Calibri"/>
              </a:rPr>
              <a:t>Docker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206240"/>
            <a:ext cx="264033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  <a:latin typeface="Calibri"/>
              </a:rPr>
              <a:t>Контейнеризация компонентов;
base-образ для agent и mounter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98114" y="3566160"/>
            <a:ext cx="282321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98114" y="3566160"/>
            <a:ext cx="2823210" cy="91440"/>
          </a:xfrm>
          <a:prstGeom prst="rect">
            <a:avLst/>
          </a:prstGeom>
          <a:solidFill>
            <a:srgbClr val="FF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89554" y="3712464"/>
            <a:ext cx="264033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700"/>
                </a:solidFill>
                <a:latin typeface="Calibri"/>
              </a:rPr>
              <a:t>HuggingFace 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9554" y="4206240"/>
            <a:ext cx="264033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  <a:latin typeface="Calibri"/>
              </a:rPr>
              <a:t>Внешний репозиторий весов моделей;
fallback-источник при отсутствии кэша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0196" y="3566160"/>
            <a:ext cx="282321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0196" y="3566160"/>
            <a:ext cx="2823210" cy="914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1636" y="3712464"/>
            <a:ext cx="264033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NFS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1636" y="4206240"/>
            <a:ext cx="264033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  <a:latin typeface="Calibri"/>
              </a:rPr>
              <a:t>Промежуточный этап: общий том с
flock + Kubernetes Lease Leader Election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82278" y="3566160"/>
            <a:ext cx="282321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82278" y="3566160"/>
            <a:ext cx="2823210" cy="91440"/>
          </a:xfrm>
          <a:prstGeom prst="rect">
            <a:avLst/>
          </a:prstGeom>
          <a:solidFill>
            <a:srgbClr val="E65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3718" y="3712464"/>
            <a:ext cx="264033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22C"/>
                </a:solidFill>
                <a:latin typeface="Calibri"/>
              </a:rPr>
              <a:t>Prometheus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3718" y="4206240"/>
            <a:ext cx="264033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  <a:latin typeface="Calibri"/>
              </a:rPr>
              <a:t>Мониторинг: hit rate, latency по уровням,
внешний трафик, Redis метрики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Предложенная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5836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53"/>
                </a:solidFill>
                <a:latin typeface="Calibri"/>
              </a:rPr>
              <a:t>storage-agent + storage-mounter + Redis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53035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07008"/>
            <a:ext cx="73152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298448"/>
            <a:ext cx="5102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storage-agent  (DaemonSet)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1627632"/>
            <a:ext cx="51023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Запускается на каждой ноде · управляет локальным chunk-кэшем на NVMe · отвечает на запросы mounter через UDS · отдаёт чанки соседям по TCP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61488"/>
            <a:ext cx="53035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761488"/>
            <a:ext cx="73152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2852928"/>
            <a:ext cx="5102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51B5"/>
                </a:solidFill>
                <a:latin typeface="Calibri"/>
              </a:rPr>
              <a:t>storage-mounter  (FUSE-клиент)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" y="3182112"/>
            <a:ext cx="51023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Монтирует виртуальную ФС в Pod · ML-runtime видит обычные файлы · lazy loading: первый байт &lt; 1 с до полной загрузки · трансляция read() → chunk-запросы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15968"/>
            <a:ext cx="53035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315968"/>
            <a:ext cx="73152" cy="1417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4407408"/>
            <a:ext cx="51023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Redis Cluster  (Control Plane)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4736592"/>
            <a:ext cx="51023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Хранит: какие чанки, на каких нодах, с каким TTL · агенты публикуют heartbeat каждые 10 с · TTL = 30 с → автоматическая очистка при отказе ноды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207008"/>
            <a:ext cx="61081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Алгоритм чтения чанка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1591056"/>
            <a:ext cx="6108192" cy="74980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1591056"/>
            <a:ext cx="64008" cy="7498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4456" y="164592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53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1645920"/>
            <a:ext cx="4279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Локальный кэш (NVMe)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60152" y="164592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C853"/>
                </a:solidFill>
                <a:latin typeface="Calibri"/>
              </a:rPr>
              <a:t>2.3 мс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1956816"/>
            <a:ext cx="5696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24242"/>
                </a:solidFill>
                <a:latin typeface="Calibri"/>
              </a:rPr>
              <a:t>✓ hit → вернуть данные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414016"/>
            <a:ext cx="6108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DBDBD"/>
                </a:solidFill>
                <a:latin typeface="Calibri"/>
              </a:rPr>
              <a:t>↓  miss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2670048"/>
            <a:ext cx="6108192" cy="749808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2670048"/>
            <a:ext cx="64008" cy="74980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34456" y="272491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300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2724912"/>
            <a:ext cx="4279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Соседняя нода (P2P/TCP)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60152" y="2724912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B300"/>
                </a:solidFill>
                <a:latin typeface="Calibri"/>
              </a:rPr>
              <a:t>13.3 мс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53912" y="3035808"/>
            <a:ext cx="5696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24242"/>
                </a:solidFill>
                <a:latin typeface="Calibri"/>
              </a:rPr>
              <a:t>✓ hit → вернуть + закэшировать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493008"/>
            <a:ext cx="6108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DBDBD"/>
                </a:solidFill>
                <a:latin typeface="Calibri"/>
              </a:rPr>
              <a:t>↓  miss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3749040"/>
            <a:ext cx="6108192" cy="749808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06440" y="3749040"/>
            <a:ext cx="64008" cy="74980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34456" y="3803904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935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53912" y="3803904"/>
            <a:ext cx="42793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HuggingFace Hub (fallback)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60152" y="3803904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E53935"/>
                </a:solidFill>
                <a:latin typeface="Calibri"/>
              </a:rPr>
              <a:t>≥ 130 мс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3912" y="4114800"/>
            <a:ext cx="5696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24242"/>
                </a:solidFill>
                <a:latin typeface="Calibri"/>
              </a:rPr>
              <a:t>скачать → закэшировать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663440"/>
            <a:ext cx="6108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24242"/>
                </a:solidFill>
                <a:latin typeface="Calibri"/>
              </a:rPr>
              <a:t>Транспорт: UDS (та же нода) · TCP (соседние ноды)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Нагрузочное тестирование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5836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53"/>
                </a:solidFill>
                <a:latin typeface="Calibri"/>
              </a:rPr>
              <a:t>Конфигурация стенда и сценарии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5303520" cy="32918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435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Тестовый стенд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27632"/>
            <a:ext cx="53035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0078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Ноды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700784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6 × Intel Xeon Silver  16c/32t · 64 ГБ 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31136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0428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Диск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30428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Samsung 980 Pro NVMe 2 ТБ  (seq. read 7 000 МБ/с)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53035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0779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Сеть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90779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10 Гбит/с Ethernet · RTT между нодами ≤ 0.5 мс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438144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11296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Redis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511296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 master + 2 replica · отдельная нода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041648"/>
            <a:ext cx="53035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Llama 3 8B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1148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15 ГБ · 960 чанков × 16 МБ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45152"/>
            <a:ext cx="5303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18304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Mistral 7B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718304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14 ГБ · 896 чанков × 16 МБ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48656"/>
            <a:ext cx="53035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32180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Calibri"/>
              </a:rPr>
              <a:t>Llama 3 70B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32180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140 ГБ · 8 960 чанков × 16 МБ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1207008"/>
            <a:ext cx="6108192" cy="329184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97880" y="1243584"/>
            <a:ext cx="5925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Сценарии тестирования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1627632"/>
            <a:ext cx="6108192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06440" y="1627632"/>
            <a:ext cx="64008" cy="11430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52744" y="1719072"/>
            <a:ext cx="5907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935"/>
                </a:solidFill>
                <a:latin typeface="Calibri"/>
              </a:rPr>
              <a:t>Cold cluster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2744" y="2066544"/>
            <a:ext cx="59070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Кэш пуст, Redis пуст
→ первый запуск в кластере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2880360"/>
            <a:ext cx="6108192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06440" y="2880360"/>
            <a:ext cx="64008" cy="11430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52744" y="2971800"/>
            <a:ext cx="5907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Calibri"/>
              </a:rPr>
              <a:t>Warm (same node)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52744" y="3319272"/>
            <a:ext cx="59070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Модель уже есть на той же ноде
→ local cache hit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4133088"/>
            <a:ext cx="6108192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06440" y="4133088"/>
            <a:ext cx="64008" cy="1143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52744" y="4224528"/>
            <a:ext cx="5907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300"/>
                </a:solidFill>
                <a:latin typeface="Calibri"/>
              </a:rPr>
              <a:t>Warm (peer node)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52744" y="4572000"/>
            <a:ext cx="59070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Модель есть на соседней ноде
→ P2P peer cache hit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5385816"/>
            <a:ext cx="6108192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06440" y="5385816"/>
            <a:ext cx="64008" cy="11430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52744" y="5477256"/>
            <a:ext cx="59070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51B5"/>
                </a:solidFill>
                <a:latin typeface="Calibri"/>
              </a:rPr>
              <a:t>Burst ×10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52744" y="5824728"/>
            <a:ext cx="5907024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10 подов стартуют одновременно
→ измерение трафика и p99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907024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24242"/>
                </a:solidFill>
                <a:latin typeface="Calibri"/>
              </a:rPr>
              <a:t>Метрики: T_model_ready (p50, p99)  ·  T_first_byte  ·  внешний трафик V_ext  ·  Redis latency  ·  CPU overhead FUSE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Результаты тестирования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5836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53"/>
                </a:solidFill>
                <a:latin typeface="Calibri"/>
              </a:rPr>
              <a:t>Модель Llama 3 8B (15 ГБ) · 6 worker-нод · NVMe 7 ГБ/с · 10 Гбит/с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207008"/>
          <a:ext cx="1164031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0078"/>
                <a:gridCol w="2910078"/>
                <a:gridCol w="2910078"/>
                <a:gridCol w="2910078"/>
              </a:tblGrid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Показатель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emptyDir (baseline)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NFS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P2P / FUSE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T_model_ready, cold cluster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~75 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~75 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~75 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T_model_ready, warm (same node)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~75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~12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~2 с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T_model_ready, warm (peer node)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~75 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~12 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~12 с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T_first_byte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~75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~75 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&lt; 1 с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Внешний трафик, N = 10 реплик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150 ГБ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15 ГБ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15 ГБ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SPOF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NFS-сервер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Redis (HA → нет)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Деградация при отказе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полная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graceful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Redis lookup p50 /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&lt; 1 мс / &lt; 5 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CPU overhead FUSE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&lt; 0.5 %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56032" y="4389120"/>
            <a:ext cx="2254910" cy="129844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4389120"/>
            <a:ext cx="64008" cy="129844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4498848"/>
            <a:ext cx="19805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53"/>
                </a:solidFill>
                <a:latin typeface="Calibri"/>
              </a:rPr>
              <a:t>×36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4937760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ускорение загрузки
local cache vs HuggingFace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2382" y="4389120"/>
            <a:ext cx="2254910" cy="129844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2382" y="4389120"/>
            <a:ext cx="64008" cy="129844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9542" y="4498848"/>
            <a:ext cx="19805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53"/>
                </a:solidFill>
                <a:latin typeface="Calibri"/>
              </a:rPr>
              <a:t>×6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9542" y="4937760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ускорение загрузки
peer cache vs HuggingFace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8732" y="4389120"/>
            <a:ext cx="2254910" cy="129844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48732" y="4389120"/>
            <a:ext cx="64008" cy="129844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5892" y="4498848"/>
            <a:ext cx="19805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53"/>
                </a:solidFill>
                <a:latin typeface="Calibri"/>
              </a:rPr>
              <a:t>×10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5892" y="4937760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снижение
внешнего трафика
(N=10 реплик)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95083" y="4389120"/>
            <a:ext cx="2254910" cy="129844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5083" y="4389120"/>
            <a:ext cx="64008" cy="129844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2243" y="4498848"/>
            <a:ext cx="19805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F51B5"/>
                </a:solidFill>
                <a:latin typeface="Calibri"/>
              </a:rPr>
              <a:t>&lt; 1 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2243" y="4937760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T_first_byte
lazy FUSE loading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1433" y="4389120"/>
            <a:ext cx="2254910" cy="129844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1433" y="4389120"/>
            <a:ext cx="64008" cy="129844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8593" y="4498848"/>
            <a:ext cx="198059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53"/>
                </a:solidFill>
                <a:latin typeface="Calibri"/>
              </a:rPr>
              <a:t>×30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8593" y="4937760"/>
            <a:ext cx="198059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снижение AMAT
после прогрева
(130 мс → 4.3 мс)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Анализ надёжности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58368"/>
            <a:ext cx="11914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53"/>
                </a:solidFill>
                <a:latin typeface="Calibri"/>
              </a:rPr>
              <a:t>Graceful degradation vs. полная остановка при NFS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11640312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07008"/>
            <a:ext cx="73152" cy="17190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298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300"/>
                </a:solidFill>
                <a:latin typeface="Calibri"/>
              </a:rPr>
              <a:t>Сценарий 1: Отказ worker-ноды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664208"/>
            <a:ext cx="8897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TTL-записи агента истекают через 30 с → Redis автоматически удаляет их.
Затронуты только чанки без репликации на других нодах.
При r=2: P(потери чанка) = 10⁻⁴  ·  при r=3: P = 10⁻⁶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8592" y="1463040"/>
            <a:ext cx="2514600" cy="1207008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618488"/>
            <a:ext cx="2377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300"/>
                </a:solidFill>
                <a:latin typeface="Calibri"/>
              </a:rPr>
              <a:t>⚠  Деградация к fallback, не остановка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11640312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73152" cy="171907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1272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Calibri"/>
              </a:rPr>
              <a:t>Сценарий 2: Недоступность 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493008"/>
            <a:ext cx="8897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Агент теряет peer discovery — не видит соседей.
Система деградирует: local cache → HuggingFace (без P2P).
При HA-конфигурации (Sentinel 1+2) вероятность полного отказа ≈ 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8592" y="3291840"/>
            <a:ext cx="2514600" cy="12070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3447288"/>
            <a:ext cx="2377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53"/>
                </a:solidFill>
                <a:latin typeface="Calibri"/>
              </a:rPr>
              <a:t>✓  Сервис продолжает работу при наличии локального кэша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64608"/>
            <a:ext cx="11640312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864608"/>
            <a:ext cx="73152" cy="1719072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9560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53"/>
                </a:solidFill>
                <a:latin typeface="Calibri"/>
              </a:rPr>
              <a:t>Сценарий 3: Недоступность HuggingFace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5321808"/>
            <a:ext cx="88971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Чанки из local / peer cache — запрос обслуживается без HF Hub.
Прогретый кластер полностью изолирован от внешнего источника.
При полном отсутствии кэша — ошибка (аналогично baseline).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8592" y="5120640"/>
            <a:ext cx="2514600" cy="12070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5276088"/>
            <a:ext cx="237744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853"/>
                </a:solidFill>
                <a:latin typeface="Calibri"/>
              </a:rPr>
              <a:t>✓  Прогретый кластер работает автономно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446520"/>
            <a:ext cx="11640312" cy="201168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455664"/>
            <a:ext cx="115488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A237E"/>
                </a:solidFill>
                <a:latin typeface="Calibri"/>
              </a:rPr>
              <a:t>NFS при любом отказе сервера → полная остановка  ·  P2P/FUSE → graceful degradation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0515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73152"/>
            <a:ext cx="11914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Итоги и практическая ценность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38544"/>
            <a:ext cx="11823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BDBD"/>
                </a:solidFill>
                <a:latin typeface="Calibri"/>
              </a:rPr>
              <a:t>Блинов М.А. · МАИ · 02.04.02 ·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Выполненные задачи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743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563624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554480"/>
            <a:ext cx="6473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Проведён анализ причин и масштаба проблемы cold start в serverless ML inference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21408"/>
            <a:ext cx="2743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2130552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21408"/>
            <a:ext cx="6473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Исследованы и сравнены 5 существующих решений (Alluxio, JuiceFS, Dragonfly, CubeFS, Ceph)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88336"/>
            <a:ext cx="2743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2697480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688336"/>
            <a:ext cx="6473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Разработан NFS-этап с Leader Election через Kubernetes Lease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55263"/>
            <a:ext cx="2743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264407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255263"/>
            <a:ext cx="6473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Спроектирована P2P/FUSE-архитектура с трёхуровневой иерархией кэша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22191"/>
            <a:ext cx="2743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3831335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822191"/>
            <a:ext cx="6473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Реализованы storage-agent (DaemonSet, HTTP API, singleflight) и storage-mounter (FUSE)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389120"/>
            <a:ext cx="2743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4398264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389120"/>
            <a:ext cx="6473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Обоснован выбор Redis heartbeat vs Gossip vs mDNS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956048"/>
            <a:ext cx="2743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4965192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956048"/>
            <a:ext cx="6473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Проведён теоретический анализ: AMAT, Закон Литтла, Амдал, Ципф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522976"/>
            <a:ext cx="274320" cy="274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5532120"/>
            <a:ext cx="1645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5522976"/>
            <a:ext cx="64739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Сформирована методика оценки эффективности с расчётными значениями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1207008"/>
            <a:ext cx="45537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Практическая ценность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1554480"/>
            <a:ext cx="2135124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60920" y="1554480"/>
            <a:ext cx="64008" cy="1417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1664208"/>
            <a:ext cx="18608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53"/>
                </a:solidFill>
                <a:latin typeface="Calibri"/>
              </a:rPr>
              <a:t>135 ГБ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2103120"/>
            <a:ext cx="186080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экономия внешнего трафика
при 10 репликах Llama 3 8B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87484" y="1554480"/>
            <a:ext cx="2135124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87484" y="1554480"/>
            <a:ext cx="64008" cy="14173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24644" y="1664208"/>
            <a:ext cx="18608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853"/>
                </a:solidFill>
                <a:latin typeface="Calibri"/>
              </a:rPr>
              <a:t>×36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24644" y="2103120"/>
            <a:ext cx="186080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ускорение загрузки модели
в прогретом кластере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60920" y="3063240"/>
            <a:ext cx="2135124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60920" y="3063240"/>
            <a:ext cx="64008" cy="141732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3172968"/>
            <a:ext cx="18608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F51B5"/>
                </a:solidFill>
                <a:latin typeface="Calibri"/>
              </a:rPr>
              <a:t>&lt; 1 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3611880"/>
            <a:ext cx="186080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T_first_byte с lazy FUSE
(было: 75 с)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87484" y="3063240"/>
            <a:ext cx="2135124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87484" y="3063240"/>
            <a:ext cx="64008" cy="1417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24644" y="3172968"/>
            <a:ext cx="18608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37E"/>
                </a:solidFill>
                <a:latin typeface="Calibri"/>
              </a:rPr>
              <a:t>0 SPOF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24644" y="3611880"/>
            <a:ext cx="186080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устранение NFS как
единой точки отказа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60920" y="4617720"/>
            <a:ext cx="4553712" cy="18288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60920" y="4617720"/>
            <a:ext cx="64008" cy="18288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88936" y="4681728"/>
            <a:ext cx="437083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Предложенная система совместима с существующими Kubernetes-кластерами без изменения кода ML-runtime. Развёртывание ограничивается установкой DaemonSet и монтированием FUSE-тома в целевые поды.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Направления дальнейшего развития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68680"/>
            <a:ext cx="3800856" cy="1920240"/>
          </a:xfrm>
          <a:prstGeom prst="rect">
            <a:avLst/>
          </a:prstGeom>
          <a:solidFill>
            <a:srgbClr val="283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744" y="868680"/>
            <a:ext cx="3800856" cy="640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9966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53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371600"/>
            <a:ext cx="3636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Полноценный P2P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719072"/>
            <a:ext cx="3636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DBD"/>
                </a:solidFill>
                <a:latin typeface="Calibri"/>
              </a:rPr>
              <a:t>Gossip-based peer discovery как альтернатива Redis
для сред без персистентного хранилища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6616" y="868680"/>
            <a:ext cx="3800856" cy="1920240"/>
          </a:xfrm>
          <a:prstGeom prst="rect">
            <a:avLst/>
          </a:prstGeom>
          <a:solidFill>
            <a:srgbClr val="283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6616" y="868680"/>
            <a:ext cx="3800856" cy="640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6344" y="9966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53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6344" y="1371600"/>
            <a:ext cx="3636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mTLS между агентами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6344" y="1719072"/>
            <a:ext cx="3636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DBD"/>
                </a:solidFill>
                <a:latin typeface="Calibri"/>
              </a:rPr>
              <a:t>Аутентификация TCP-соединений для production;
авторизация Redis через ACL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5488" y="868680"/>
            <a:ext cx="3800856" cy="1920240"/>
          </a:xfrm>
          <a:prstGeom prst="rect">
            <a:avLst/>
          </a:prstGeom>
          <a:solidFill>
            <a:srgbClr val="283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5488" y="868680"/>
            <a:ext cx="3800856" cy="640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5216" y="9966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5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5216" y="1371600"/>
            <a:ext cx="3636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Cache warming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5216" y="1719072"/>
            <a:ext cx="3636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DBD"/>
                </a:solidFill>
                <a:latin typeface="Calibri"/>
              </a:rPr>
              <a:t>Предзагрузка популярных моделей по расписанию;
Zipf-прогнозирование горячих чанков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" y="2926080"/>
            <a:ext cx="3800856" cy="1920240"/>
          </a:xfrm>
          <a:prstGeom prst="rect">
            <a:avLst/>
          </a:prstGeom>
          <a:solidFill>
            <a:srgbClr val="283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" y="2926080"/>
            <a:ext cx="3800856" cy="640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0540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53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3429000"/>
            <a:ext cx="3636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CSI-плагин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776472"/>
            <a:ext cx="3636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DBD"/>
                </a:solidFill>
                <a:latin typeface="Calibri"/>
              </a:rPr>
              <a:t>Нативная интеграция с Kubernetes PVC;
avoidance of manual FUSE mount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6616" y="2926080"/>
            <a:ext cx="3800856" cy="1920240"/>
          </a:xfrm>
          <a:prstGeom prst="rect">
            <a:avLst/>
          </a:prstGeom>
          <a:solidFill>
            <a:srgbClr val="283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66616" y="2926080"/>
            <a:ext cx="3800856" cy="640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6344" y="30540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53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6344" y="3429000"/>
            <a:ext cx="3636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Доп. источники моделей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6344" y="3776472"/>
            <a:ext cx="3636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DBD"/>
                </a:solidFill>
                <a:latin typeface="Calibri"/>
              </a:rPr>
              <a:t>Поддержка Ollama и ModelScope
помимо HuggingFace Hub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5488" y="2926080"/>
            <a:ext cx="3800856" cy="1920240"/>
          </a:xfrm>
          <a:prstGeom prst="rect">
            <a:avLst/>
          </a:prstGeom>
          <a:solidFill>
            <a:srgbClr val="283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5488" y="2926080"/>
            <a:ext cx="3800856" cy="64008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5216" y="305409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53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5216" y="3429000"/>
            <a:ext cx="3636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GPU-кластер валидация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5216" y="3776472"/>
            <a:ext cx="3636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BDBD"/>
                </a:solidFill>
                <a:latin typeface="Calibri"/>
              </a:rPr>
              <a:t>Экспериментальная проверка на реальном
GPU-кластере с vLLM / LLaMA.cpp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11274552" cy="1234440"/>
          </a:xfrm>
          <a:prstGeom prst="rect">
            <a:avLst/>
          </a:prstGeom>
          <a:solidFill>
            <a:srgbClr val="0D1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983480"/>
            <a:ext cx="64008" cy="12344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074920"/>
            <a:ext cx="110916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Система позволяет сократить задержку холодного старта на порядок при отсутствии деградации надёжности — что критично для production serverless ML inference.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65392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BDBD"/>
                </a:solidFill>
                <a:latin typeface="Calibri"/>
              </a:rPr>
              <a:t>Блинов М.А.  ·  МАИ  ·  02.04.02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