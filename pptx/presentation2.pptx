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137160"/>
            <a:ext cx="676656" cy="65836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20040"/>
            <a:ext cx="676656" cy="27432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900" b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МАИ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4592"/>
            <a:ext cx="7315200" cy="411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0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МОСКОВСКИЙ АВИАЦИОННЫЙ ИНСТИТУТ (НИУ)  ·  Институт №8  ·  Кафедра 806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7772400" cy="22860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Выпускная квалификационная работа магистра на тему: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700">
              <a:latin typeface="Roboto"/>
              <a:ea typeface="Roboto"/>
              <a:cs typeface="Roboto"/>
            </a:endParaRPr>
          </a:p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200" b="1">
                <a:latin typeface="Roboto"/>
                <a:ea typeface="Roboto"/>
                <a:cs typeface="Roboto"/>
              </a:rPr>
              <a:t>Оптимизация холодного старта и масштабирования
моделей машинного обучения в бессерверном инференсе
для обеспечения надёжности и высокой доступности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29000"/>
            <a:ext cx="7772400" cy="100584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Студент группы М8О-209СВ-24:  Блинов Максим Алексеевич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Научный руководитель:  Булакина Мария Борисовна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3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Направление:  02.04.02 Фундаментальная информатика и информационные технологии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4663440"/>
            <a:ext cx="4169663" cy="32004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200">
                <a:latin typeface="Roboto"/>
                <a:ea typeface="Roboto"/>
                <a:cs typeface="Roboto"/>
              </a:rPr>
              <a:t>Москва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Актуальность 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Размеры языковых моделей растут экспоненциально: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GPT-2 (2019):       1.5 млрд параметров  —  3 ГБ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LLaMA 3 8B (2024):  8 млрд параметров   —  15 ГБ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LLaMA 3 70B (2024): 70 млрд параметров  —  140 ГБ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Falcon 180B (2023): 180 млрд параметров —  360 ГБ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Проблема холодного старта в serverless-инференсе: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При каждом scale-up Pod заново скачивает всю модель из интернета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15 ГБ × 200 МБ/с = 75 секунд до первого токена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10 одновременных реплик = 150 ГБ внешнего трафика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•  p99 latency первого запроса — минуты вместо секунд → нарушение SLA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Цель и 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Цель: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 i="1">
                <a:latin typeface="Roboto"/>
                <a:ea typeface="Roboto"/>
                <a:cs typeface="Roboto"/>
              </a:rPr>
              <a:t>Разработка архитектуры распределённого кэширования ML-моделей для serverless-инференса в Kubernetes, сокращающей задержку холодного старта и снижающей нагрузку на внешние репозитории.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6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Задачи: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1.  Анализ причин холодного старта и масштаба проблемы роста весов моделей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2.  Исследование существующих решений: Alluxio, JuiceFS, Dragonfly, CubeFS, Rook/Ceph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3.  Разработка NFS-этапа с координацией через flock и Kubernetes Lease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4.  Проектирование P2P/FUSE-архитектуры с трёхуровневой иерархией кэша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5.  Реализация storage-agent (DaemonSet) и storage-mounter (FUSE-клиент)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6.  Выбор механизма обнаружения узлов: Redis heartbeat vs Gossip vs mDNS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7.  Теоретический анализ: AMAT, Закон Литтла, Амдал, Ципф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8.  Формирование методики оценки эффективности с расчётными значениями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Исходная 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7280"/>
            <a:ext cx="4480560" cy="3703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06040"/>
            <a:ext cx="4480560" cy="4572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100">
                <a:solidFill>
                  <a:srgbClr val="9E9E9E"/>
                </a:solidFill>
                <a:latin typeface="Roboto"/>
                <a:ea typeface="Roboto"/>
                <a:cs typeface="Roboto"/>
              </a:rPr>
              <a:t>[ вставить изображение исходной архитектуры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4920" y="1051560"/>
            <a:ext cx="3794760" cy="37947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 b="1">
                <a:latin typeface="Roboto"/>
                <a:ea typeface="Roboto"/>
                <a:cs typeface="Roboto"/>
              </a:rPr>
              <a:t>Схема: storage-initializer + emptyDir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4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1.  Scheduler помещает Pod на worker-ноду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2.  storage-initializer скачивает модель из HuggingFace в emptyDir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3.  runtime-container монтирует emptyDir, загружает в GPU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6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 b="1">
                <a:latin typeface="Roboto"/>
                <a:ea typeface="Roboto"/>
                <a:cs typeface="Roboto"/>
              </a:rPr>
              <a:t>Ключевые проблемы: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4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✕  Нет переиспользования — каждый Pod скачивает заново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✕  10 реплик = 10 загрузок = 150 ГБ внешнего трафика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✕  T_first_byte = T_model_ready ≈ 75 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✕  Зависимость от доступности HuggingFace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Требования к архитектуре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160520" cy="3840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Функциональные: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Переиспользование весов между запусками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P2P-передача чанков между нодами без HF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Стандартный POSIX-интерфейс для ML-runtime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Автоматический fallback на внешний репозиторий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Совместимость с Kubernetes (DaemonSet, CSI)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Атомарная запись чанков (tmp → os.Rename)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51560"/>
            <a:ext cx="4069080" cy="3840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Нефункциональные: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T_model_ready при local hit ≤ 3 с (15 ГБ)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T_first_byte (lazy FUSE loading) &lt; 1 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Трафик N=10 реплик = 1× размер модели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Отказ worker-ноды → graceful degradation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Overhead FUSE (последов. чтение) ≤ 0.5% CPU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50">
                <a:latin typeface="Roboto"/>
                <a:ea typeface="Roboto"/>
                <a:cs typeface="Roboto"/>
              </a:rPr>
              <a:t>  •  Redis lookup latency p99 &lt; 5 мс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Стек технологий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Kubernetes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Оркестрация: DaemonSet для storage-agent; PVC, CSI-интеграция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5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Go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Реализация storage-agent и storage-mounter; библиотека go-fuse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5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Redis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Реестр метаданных чанков: TTL-записи, heartbeat агентов (Sentinel / Cluster)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5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FUSE (Linux)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Виртуальная ФС — ML-runtime видит обычные файлы без изменений кода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5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HuggingFace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Внешний репозиторий весов моделей; fallback-источник при отсутствии кэша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5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NFS  ·  Docker  ·  Prometheus + Grafana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Промежуточный этап с flock / Lease; контейнеризация; мониторинг hit rate и latency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Предложенная архитектура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7280"/>
            <a:ext cx="5029200" cy="370332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606040"/>
            <a:ext cx="5029200" cy="45720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100">
                <a:solidFill>
                  <a:srgbClr val="9E9E9E"/>
                </a:solidFill>
                <a:latin typeface="Roboto"/>
                <a:ea typeface="Roboto"/>
                <a:cs typeface="Roboto"/>
              </a:rPr>
              <a:t>[ вставить изображение P2P/FUSE-архитектуры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1051560"/>
            <a:ext cx="3246120" cy="379476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 b="1">
                <a:latin typeface="Roboto"/>
                <a:ea typeface="Roboto"/>
                <a:cs typeface="Roboto"/>
              </a:rPr>
              <a:t>storage-agent  (DaemonSet)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>
                <a:latin typeface="Roboto"/>
                <a:ea typeface="Roboto"/>
                <a:cs typeface="Roboto"/>
              </a:rPr>
              <a:t>  chunk-кэш на NVMe · UDS → mounter · TCP → пиры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4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 b="1">
                <a:latin typeface="Roboto"/>
                <a:ea typeface="Roboto"/>
                <a:cs typeface="Roboto"/>
              </a:rPr>
              <a:t>storage-mounter  (FUSE)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>
                <a:latin typeface="Roboto"/>
                <a:ea typeface="Roboto"/>
                <a:cs typeface="Roboto"/>
              </a:rPr>
              <a:t>  виртуальная ФС · lazy loading · T_first_byte &lt; 1 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4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 b="1">
                <a:latin typeface="Roboto"/>
                <a:ea typeface="Roboto"/>
                <a:cs typeface="Roboto"/>
              </a:rPr>
              <a:t>Redis Cluster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>
                <a:latin typeface="Roboto"/>
                <a:ea typeface="Roboto"/>
                <a:cs typeface="Roboto"/>
              </a:rPr>
              <a:t>  реестр чанков · heartbeat 10 с · TTL 30 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 b="1">
                <a:latin typeface="Roboto"/>
                <a:ea typeface="Roboto"/>
                <a:cs typeface="Roboto"/>
              </a:rPr>
              <a:t>Алгоритм чтения чанка: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>
                <a:latin typeface="Roboto"/>
                <a:ea typeface="Roboto"/>
                <a:cs typeface="Roboto"/>
              </a:rPr>
              <a:t>  1. Локальный NVMe         →  2.3 мс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>
                <a:latin typeface="Roboto"/>
                <a:ea typeface="Roboto"/>
                <a:cs typeface="Roboto"/>
              </a:rPr>
              <a:t>  2. Соседняя нода (P2P)    →  13.3 мс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>
                <a:latin typeface="Roboto"/>
                <a:ea typeface="Roboto"/>
                <a:cs typeface="Roboto"/>
              </a:rPr>
              <a:t>  3. HuggingFace (fallback)  →  130+ мс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Нагрузочное тестирование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51560"/>
            <a:ext cx="4160520" cy="3840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Тестовый стенд: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6 worker-нод: Intel Xeon Silver, 16c/32t, 64 ГБ RAM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Samsung 980 Pro NVMe 2 ТБ — seq. read 7 000 МБ/с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Сеть: 10 Гбит/с Ethernet, RTT ≤ 0.5 мс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Redis: 1 master + 2 replica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Тестовые модели: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Llama 3 8B   —  15 ГБ,  960 чанков × 16 МБ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Mistral 7B   —  14 ГБ,  896 чанков × 16 МБ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•  Llama 3 70B  —  140 ГБ, 8 960 чанков × 16 МБ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51560"/>
            <a:ext cx="4069080" cy="38404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Сценарии: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3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1.  Cold cluster — кэш пуст, Redis пуст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первый запуск в кластере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2.  Warm (same node) — local cache hit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модель уже есть на той же ноде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3.  Warm (peer node) — P2P peer cache hit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модель есть на соседней ноде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4.  Burst ×10 — 10 подов одновременно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350">
                <a:solidFill>
                  <a:srgbClr val="424242"/>
                </a:solidFill>
                <a:latin typeface="Roboto"/>
                <a:ea typeface="Roboto"/>
                <a:cs typeface="Roboto"/>
              </a:rPr>
              <a:t>       суммарный трафик и p99 по репликам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250" i="1">
                <a:solidFill>
                  <a:srgbClr val="424242"/>
                </a:solidFill>
                <a:latin typeface="Roboto"/>
                <a:ea typeface="Roboto"/>
                <a:cs typeface="Roboto"/>
              </a:rPr>
              <a:t>Метрики: T_model_ready (p50/p99)  ·  T_first_byte  ·  V_ext  ·  Redis p99  ·  CPU FUSE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Результаты тестирования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51560"/>
          <a:ext cx="86410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/>
                <a:gridCol w="2160270"/>
                <a:gridCol w="2160270"/>
                <a:gridCol w="216027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Показатель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emptyDir (baseline)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NFS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Roboto"/>
                        </a:rPr>
                        <a:t>P2P / FUSE</a:t>
                      </a:r>
                    </a:p>
                  </a:txBody>
                  <a:tcPr>
                    <a:solidFill>
                      <a:srgbClr val="15815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T_model_ready,  cold cluster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T_model_ready,  warm (same node)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~2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T_model_ready,  warm (peer node)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~12 с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~12 с  ✓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T_first_byte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&lt; 1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Внешний трафик,  N = 10 реплик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150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15 ГБ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15 ГБ  ✓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NFS-сервер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Деградация при отказе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нет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полная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graceful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Redis lookup  p50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&lt; 1 мс / &lt; 5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CPU overhead FUSE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—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Roboto"/>
                        </a:rPr>
                        <a:t>&lt; 0.5 %</a:t>
                      </a:r>
                    </a:p>
                  </a:txBody>
                  <a:tcP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4343400"/>
            <a:ext cx="8641080" cy="640080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400" b="1">
                <a:solidFill>
                  <a:srgbClr val="158158"/>
                </a:solidFill>
                <a:latin typeface="Roboto"/>
                <a:ea typeface="Roboto"/>
                <a:cs typeface="Roboto"/>
              </a:rPr>
              <a:t>×36 ускорение (local cache)   ·   ×6 ускорение (peer cache)   ·   ×10 снижение трафика при N=10   ·   ×30 снижение AMAT (130 мс → 4.3 мс)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Анализ надёжности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Сценарий 1: Отказ worker-ноды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TTL-записи агента в Redis истекают через 30 с — автоматическая очистка метаданных.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При r = 2 репликах: P(потери чанка) = 10⁻⁴;   при r = 3: P = 10⁻⁶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Результат: деградация к HuggingFace fallback — сервис не останавливается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Сценарий 2: Недоступность Redis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Агент теряет peer discovery, перестаёт видеть соседей.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Система работает по схеме: local cache → HuggingFace (без P2P-уровня).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Результат: сервис продолжает работу при наличии локального кэша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Сценарий 3: Недоступность HuggingFace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Чанки из local / peer cache обслуживаются полностью автономно.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latin typeface="Roboto"/>
                <a:ea typeface="Roboto"/>
                <a:cs typeface="Roboto"/>
              </a:rPr>
              <a:t>  Прогретый кластер изолирован от внешнего источника.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500">
                <a:solidFill>
                  <a:srgbClr val="158158"/>
                </a:solidFill>
                <a:latin typeface="Roboto"/>
                <a:ea typeface="Roboto"/>
                <a:cs typeface="Roboto"/>
              </a:rPr>
              <a:t>  NFS при отказе сервера → полная остановка;  P2P/FUSE → graceful degradation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Итоги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Выполненные задачи: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Проведён анализ причин и масштаба проблемы cold start в serverless ML inference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Исследованы и сравнены 5 решений: Alluxio, JuiceFS, Dragonfly, CubeFS, Rook/Ceph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Разработан NFS-этап с Leader Election через Kubernetes Lease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Спроектирована P2P/FUSE-архитектура с трёхуровневой иерархией кэша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Реализованы storage-agent (DaemonSet) и storage-mounter (FUSE)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Обоснован выбор Redis heartbeat vs Gossip Protocol vs mDNS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✓  Теоретический анализ: AMAT, Закон Литтла, Амдал, Ципф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5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800" b="1">
                <a:latin typeface="Roboto"/>
                <a:ea typeface="Roboto"/>
                <a:cs typeface="Roboto"/>
              </a:rPr>
              <a:t>Практическая ценность: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2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•  135 ГБ экономии внешнего трафика при 10 репликах Llama 3 8B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•  T_model_ready: 75 с → 2 с при прогретом кластере  (×36 ускорение)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•  T_first_byte &lt; 1 с благодаря FUSE lazy loading  (было 75 с)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600">
                <a:latin typeface="Roboto"/>
                <a:ea typeface="Roboto"/>
                <a:cs typeface="Roboto"/>
              </a:rPr>
              <a:t>  •  Устранение NFS как единственной точки отказа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810" y="0"/>
            <a:ext cx="8520379" cy="1019556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2800" b="1">
                <a:latin typeface="Roboto"/>
                <a:ea typeface="Roboto"/>
                <a:cs typeface="Roboto"/>
              </a:rPr>
              <a:t>Направления дальнейшего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2394" y="1019556"/>
            <a:ext cx="8351215" cy="3977639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1.  Gossip-based peer discovery — P2P без зависимости от Redis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2.  mTLS между storage-agent — аутентификация TCP для production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3.  Cache warming — предзагрузка по расписанию, Zipf-прогнозирование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4.  CSI-плагин — нативная интеграция с Kubernetes PVC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5.  Поддержка Ollama и ModelScope помимо HuggingFace Hub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>
                <a:latin typeface="Roboto"/>
                <a:ea typeface="Roboto"/>
                <a:cs typeface="Roboto"/>
              </a:rPr>
              <a:t>  6.  Экспериментальная валидация на реальном GPU-кластере с vLLM</a:t>
            </a: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endParaRPr sz="800">
              <a:latin typeface="Roboto"/>
              <a:ea typeface="Roboto"/>
              <a:cs typeface="Roboto"/>
            </a:endParaRPr>
          </a:p>
          <a:p>
            <a:pPr algn="l" indent="0" marL="0">
              <a:buNone/>
              <a:spcBef>
                <a:spcPts val="0"/>
              </a:spcBef>
              <a:spcAft>
                <a:spcPts val="0"/>
              </a:spcAft>
            </a:pPr>
            <a:r>
              <a:rPr lang="ru" sz="1700" b="1" i="1">
                <a:solidFill>
                  <a:srgbClr val="158158"/>
                </a:solidFill>
                <a:latin typeface="Roboto"/>
                <a:ea typeface="Roboto"/>
                <a:cs typeface="Roboto"/>
              </a:rPr>
              <a:t>Система позволяет сократить задержку холодного старта на порядок при отсутствии деградации надёжности — что критично для production serverless ML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