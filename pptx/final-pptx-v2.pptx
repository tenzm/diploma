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168" y="137160"/>
            <a:ext cx="676656" cy="658368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01168" y="320040"/>
            <a:ext cx="676656" cy="274320"/>
          </a:xfrm>
          <a:prstGeom prst="rect">
            <a:avLst/>
          </a:prstGeom>
          <a:noFill/>
        </p:spPr>
        <p:txBody>
          <a:bodyPr wrap="square" anchor="t" anchorCtr="0">
            <a:spAutoFit/>
          </a:bodyPr>
          <a:lstStyle/>
          <a:p>
            <a:pPr algn="c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-RU" sz="900" b="1">
                <a:solidFill>
                  <a:srgbClr val="424242"/>
                </a:solidFill>
                <a:latin typeface="Roboto"/>
                <a:ea typeface="Roboto"/>
                <a:cs typeface="Roboto"/>
              </a:rPr>
              <a:t>МАИ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64592"/>
            <a:ext cx="7315200" cy="411480"/>
          </a:xfrm>
          <a:prstGeom prst="rect">
            <a:avLst/>
          </a:prstGeom>
          <a:noFill/>
        </p:spPr>
        <p:txBody>
          <a:bodyPr wrap="square" anchor="t" anchorCtr="0">
            <a:spAutoFit/>
          </a:bodyPr>
          <a:lstStyle/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-RU" sz="1000">
                <a:solidFill>
                  <a:srgbClr val="424242"/>
                </a:solidFill>
                <a:latin typeface="Roboto"/>
                <a:ea typeface="Roboto"/>
                <a:cs typeface="Roboto"/>
              </a:rPr>
              <a:t>МОСКОВСКИЙ АВИАЦИОННЫЙ ИНСТИТУТ (НИУ)  ·  Институт №8  ·  Кафедра 806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868680"/>
            <a:ext cx="7772400" cy="2286000"/>
          </a:xfrm>
          <a:prstGeom prst="rect">
            <a:avLst/>
          </a:prstGeom>
          <a:noFill/>
        </p:spPr>
        <p:txBody>
          <a:bodyPr wrap="square" anchor="t" anchorCtr="0">
            <a:spAutoFit/>
          </a:bodyPr>
          <a:lstStyle/>
          <a:p>
            <a:pPr algn="c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-RU" sz="1500">
                <a:solidFill>
                  <a:srgbClr val="424242"/>
                </a:solidFill>
                <a:latin typeface="Roboto"/>
                <a:ea typeface="Roboto"/>
                <a:cs typeface="Roboto"/>
              </a:rPr>
              <a:t>Выпускная квалификационная работа магистра на тему:</a:t>
            </a:r>
          </a:p>
          <a:p>
            <a:pPr algn="l">
              <a:buNone/>
              <a:spcBef>
                <a:spcPts val="700"/>
              </a:spcBef>
              <a:spcAft>
                <a:spcPts val="0"/>
              </a:spcAft>
            </a:pPr>
          </a:p>
          <a:p>
            <a:pPr algn="c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-RU" sz="2200" b="1">
                <a:latin typeface="Roboto"/>
                <a:ea typeface="Roboto"/>
                <a:cs typeface="Roboto"/>
              </a:rPr>
              <a:t>Оптимизация холодного старта и масштабирования
моделей машинного обучения в бессерверном инференсе
для обеспечения надёжности и высокой доступности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429000"/>
            <a:ext cx="7772400" cy="1005840"/>
          </a:xfrm>
          <a:prstGeom prst="rect">
            <a:avLst/>
          </a:prstGeom>
          <a:noFill/>
        </p:spPr>
        <p:txBody>
          <a:bodyPr wrap="square" anchor="t" anchorCtr="0">
            <a:spAutoFit/>
          </a:bodyPr>
          <a:lstStyle/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-RU" sz="1600">
                <a:latin typeface="Roboto"/>
                <a:ea typeface="Roboto"/>
                <a:cs typeface="Roboto"/>
              </a:rPr>
              <a:t>Студент группы М8О-209СВ-24:  Блинов Максим Алексеевич</a:t>
            </a: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-RU" sz="1600">
                <a:latin typeface="Roboto"/>
                <a:ea typeface="Roboto"/>
                <a:cs typeface="Roboto"/>
              </a:rPr>
              <a:t>Научный руководитель:  Булакина Мария Борисовна, к.т.н., доцент, доцент каф. 806</a:t>
            </a:r>
          </a:p>
          <a:p>
            <a:pPr algn="l">
              <a:buNone/>
              <a:spcBef>
                <a:spcPts val="300"/>
              </a:spcBef>
              <a:spcAft>
                <a:spcPts val="0"/>
              </a:spcAft>
            </a:pP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-RU" sz="1300">
                <a:solidFill>
                  <a:srgbClr val="424242"/>
                </a:solidFill>
                <a:latin typeface="Roboto"/>
                <a:ea typeface="Roboto"/>
                <a:cs typeface="Roboto"/>
              </a:rPr>
              <a:t>Направление:  02.04.02 Фундаментальная информатика и информационные технологии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87168" y="4663440"/>
            <a:ext cx="4169663" cy="320040"/>
          </a:xfrm>
          <a:prstGeom prst="rect">
            <a:avLst/>
          </a:prstGeom>
          <a:noFill/>
        </p:spPr>
        <p:txBody>
          <a:bodyPr wrap="square" anchor="t" anchorCtr="0">
            <a:spAutoFit/>
          </a:bodyPr>
          <a:lstStyle/>
          <a:p>
            <a:pPr algn="c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-RU" sz="1200">
                <a:latin typeface="Roboto"/>
                <a:ea typeface="Roboto"/>
                <a:cs typeface="Roboto"/>
              </a:rPr>
              <a:t>Москва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810" y="0"/>
            <a:ext cx="8520379" cy="914400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-RU" sz="2800" b="1">
                <a:latin typeface="Roboto"/>
                <a:ea typeface="Roboto"/>
                <a:cs typeface="Roboto"/>
              </a:rPr>
              <a:t>Актуальность темы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960120"/>
            <a:ext cx="4160520" cy="3977639"/>
          </a:xfrm>
          <a:prstGeom prst="rect">
            <a:avLst/>
          </a:prstGeom>
          <a:noFill/>
        </p:spPr>
        <p:txBody>
          <a:bodyPr wrap="square" anchor="t" anchorCtr="0">
            <a:spAutoFit/>
          </a:bodyPr>
          <a:lstStyle/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-RU" sz="1750" b="1">
                <a:latin typeface="Roboto"/>
                <a:ea typeface="Roboto"/>
                <a:cs typeface="Roboto"/>
              </a:rPr>
              <a:t>Размеры языковых моделей растут:</a:t>
            </a:r>
          </a:p>
          <a:p>
            <a:pPr algn="l">
              <a:buNone/>
              <a:spcBef>
                <a:spcPts val="250"/>
              </a:spcBef>
              <a:spcAft>
                <a:spcPts val="0"/>
              </a:spcAft>
            </a:pP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-RU" sz="1550">
                <a:latin typeface="Roboto"/>
                <a:ea typeface="Roboto"/>
                <a:cs typeface="Roboto"/>
              </a:rPr>
              <a:t>  GPT-2 (2019):       ~3 МБ весов</a:t>
            </a: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-RU" sz="1550">
                <a:latin typeface="Roboto"/>
                <a:ea typeface="Roboto"/>
                <a:cs typeface="Roboto"/>
              </a:rPr>
              <a:t>  GPT-3 (2020):       ~350 ГБ весов</a:t>
            </a: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-RU" sz="1550">
                <a:latin typeface="Roboto"/>
                <a:ea typeface="Roboto"/>
                <a:cs typeface="Roboto"/>
              </a:rPr>
              <a:t>  LLaMA 3 70B (2024): ~140 ГБ весов</a:t>
            </a: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-RU" sz="1550">
                <a:latin typeface="Roboto"/>
                <a:ea typeface="Roboto"/>
                <a:cs typeface="Roboto"/>
              </a:rPr>
              <a:t>  Falcon 180B (2023): ~360 ГБ весов</a:t>
            </a:r>
          </a:p>
          <a:p>
            <a:pPr algn="l">
              <a:buNone/>
              <a:spcBef>
                <a:spcPts val="450"/>
              </a:spcBef>
              <a:spcAft>
                <a:spcPts val="0"/>
              </a:spcAft>
            </a:pP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-RU" sz="1750" b="1">
                <a:latin typeface="Roboto"/>
                <a:ea typeface="Roboto"/>
                <a:cs typeface="Roboto"/>
              </a:rPr>
              <a:t>Следствие для serverless-инференса:</a:t>
            </a:r>
          </a:p>
          <a:p>
            <a:pPr algn="l">
              <a:buNone/>
              <a:spcBef>
                <a:spcPts val="250"/>
              </a:spcBef>
              <a:spcAft>
                <a:spcPts val="0"/>
              </a:spcAft>
            </a:pP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-RU" sz="1550">
                <a:latin typeface="Roboto"/>
                <a:ea typeface="Roboto"/>
                <a:cs typeface="Roboto"/>
              </a:rPr>
              <a:t>  При scale-up Pod заново скачивает модель</a:t>
            </a: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-RU" sz="1550">
                <a:latin typeface="Roboto"/>
                <a:ea typeface="Roboto"/>
                <a:cs typeface="Roboto"/>
              </a:rPr>
              <a:t>  15 ГБ × 200 МБ/с = 75 с до первого токена</a:t>
            </a: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-RU" sz="1550">
                <a:latin typeface="Roboto"/>
                <a:ea typeface="Roboto"/>
                <a:cs typeface="Roboto"/>
              </a:rPr>
              <a:t>  10 реплик = 150 ГБ внешнего трафика</a:t>
            </a: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-RU" sz="1550">
                <a:solidFill>
                  <a:srgbClr val="C62828"/>
                </a:solidFill>
                <a:latin typeface="Roboto"/>
                <a:ea typeface="Roboto"/>
                <a:cs typeface="Roboto"/>
              </a:rPr>
              <a:t>  p99 latency → минуты → нарушение SLA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960120"/>
            <a:ext cx="4297680" cy="397763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810" y="0"/>
            <a:ext cx="8520379" cy="914400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-RU" sz="2800" b="1">
                <a:latin typeface="Roboto"/>
                <a:ea typeface="Roboto"/>
                <a:cs typeface="Roboto"/>
              </a:rPr>
              <a:t>Цель и задачи работы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2394" y="960120"/>
            <a:ext cx="8351215" cy="4023360"/>
          </a:xfrm>
          <a:prstGeom prst="rect">
            <a:avLst/>
          </a:prstGeom>
          <a:noFill/>
        </p:spPr>
        <p:txBody>
          <a:bodyPr wrap="square" anchor="t" anchorCtr="0">
            <a:spAutoFit/>
          </a:bodyPr>
          <a:lstStyle/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-RU" sz="1800" b="1">
                <a:latin typeface="Roboto"/>
                <a:ea typeface="Roboto"/>
                <a:cs typeface="Roboto"/>
              </a:rPr>
              <a:t>Цель:</a:t>
            </a:r>
          </a:p>
          <a:p>
            <a:pPr algn="l">
              <a:buNone/>
              <a:spcBef>
                <a:spcPts val="200"/>
              </a:spcBef>
              <a:spcAft>
                <a:spcPts val="0"/>
              </a:spcAft>
            </a:pP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-RU" sz="1700" i="1">
                <a:latin typeface="Roboto"/>
                <a:ea typeface="Roboto"/>
                <a:cs typeface="Roboto"/>
              </a:rPr>
              <a:t>Разработка архитектуры распределённого кэширования ML-моделей для serverless-инференса в Kubernetes, сокращающей задержку холодного старта и снижающей нагрузку на внешние репозитории.</a:t>
            </a:r>
          </a:p>
          <a:p>
            <a:pPr algn="l">
              <a:buNone/>
              <a:spcBef>
                <a:spcPts val="600"/>
              </a:spcBef>
              <a:spcAft>
                <a:spcPts val="0"/>
              </a:spcAft>
            </a:pP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-RU" sz="1800" b="1">
                <a:latin typeface="Roboto"/>
                <a:ea typeface="Roboto"/>
                <a:cs typeface="Roboto"/>
              </a:rPr>
              <a:t>Задачи:</a:t>
            </a:r>
          </a:p>
          <a:p>
            <a:pPr algn="l">
              <a:buNone/>
              <a:spcBef>
                <a:spcPts val="200"/>
              </a:spcBef>
              <a:spcAft>
                <a:spcPts val="0"/>
              </a:spcAft>
            </a:pP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-RU" sz="1600">
                <a:latin typeface="Roboto"/>
                <a:ea typeface="Roboto"/>
                <a:cs typeface="Roboto"/>
              </a:rPr>
              <a:t>  1.  Анализ причин холодного старта и масштаба проблемы роста весов моделей</a:t>
            </a: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-RU" sz="1600">
                <a:latin typeface="Roboto"/>
                <a:ea typeface="Roboto"/>
                <a:cs typeface="Roboto"/>
              </a:rPr>
              <a:t>  2.  Исследование существующих решений: Alluxio, JuiceFS, Dragonfly, CubeFS, Rook/Ceph</a:t>
            </a: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-RU" sz="1600">
                <a:latin typeface="Roboto"/>
                <a:ea typeface="Roboto"/>
                <a:cs typeface="Roboto"/>
              </a:rPr>
              <a:t>  3.  Разработка NFS-этапа с координацией через flock и Kubernetes Lease</a:t>
            </a: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-RU" sz="1600">
                <a:latin typeface="Roboto"/>
                <a:ea typeface="Roboto"/>
                <a:cs typeface="Roboto"/>
              </a:rPr>
              <a:t>  4.  Проектирование P2P/FUSE-архитектуры с трёхуровневой иерархией кэша</a:t>
            </a: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-RU" sz="1600">
                <a:latin typeface="Roboto"/>
                <a:ea typeface="Roboto"/>
                <a:cs typeface="Roboto"/>
              </a:rPr>
              <a:t>  5.  Реализация storage-agent (DaemonSet) и storage-mounter (FUSE-клиент)</a:t>
            </a: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-RU" sz="1600">
                <a:latin typeface="Roboto"/>
                <a:ea typeface="Roboto"/>
                <a:cs typeface="Roboto"/>
              </a:rPr>
              <a:t>  6.  Выбор механизма обнаружения узлов: Redis heartbeat vs Gossip vs mDNS</a:t>
            </a: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-RU" sz="1600">
                <a:latin typeface="Roboto"/>
                <a:ea typeface="Roboto"/>
                <a:cs typeface="Roboto"/>
              </a:rPr>
              <a:t>  7.  Теоретический анализ: AMAT, Закон Литтла, Амдал, Ципф</a:t>
            </a: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-RU" sz="1600">
                <a:latin typeface="Roboto"/>
                <a:ea typeface="Roboto"/>
                <a:cs typeface="Roboto"/>
              </a:rPr>
              <a:t>  8.  Формирование методики оценки эффективности с расчётными значениями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810" y="0"/>
            <a:ext cx="8520379" cy="914400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-RU" sz="2800" b="1">
                <a:latin typeface="Roboto"/>
                <a:ea typeface="Roboto"/>
                <a:cs typeface="Roboto"/>
              </a:rPr>
              <a:t>Исходная архитектура: storage-initializer + emptyDir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960120"/>
            <a:ext cx="4297680" cy="3977639"/>
          </a:xfrm>
          <a:prstGeom prst="rect">
            <a:avLst/>
          </a:prstGeom>
          <a:noFill/>
        </p:spPr>
        <p:txBody>
          <a:bodyPr wrap="square" anchor="t" anchorCtr="0">
            <a:spAutoFit/>
          </a:bodyPr>
          <a:lstStyle/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-RU" sz="1700" b="1">
                <a:latin typeface="Roboto"/>
                <a:ea typeface="Roboto"/>
                <a:cs typeface="Roboto"/>
              </a:rPr>
              <a:t>Поток запуска пода:</a:t>
            </a:r>
          </a:p>
          <a:p>
            <a:pPr algn="l">
              <a:buNone/>
              <a:spcBef>
                <a:spcPts val="300"/>
              </a:spcBef>
              <a:spcAft>
                <a:spcPts val="0"/>
              </a:spcAft>
            </a:pP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-RU" sz="1520">
                <a:latin typeface="Roboto"/>
                <a:ea typeface="Roboto"/>
                <a:cs typeface="Roboto"/>
              </a:rPr>
              <a:t>1.  Scheduler размещает Pod на worker-ноде</a:t>
            </a: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-RU" sz="1520">
                <a:latin typeface="Roboto"/>
                <a:ea typeface="Roboto"/>
                <a:cs typeface="Roboto"/>
              </a:rPr>
              <a:t>2.  storage-initializer скачивает модель
     из HuggingFace в volume emptyDir</a:t>
            </a: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-RU" sz="1520">
                <a:latin typeface="Roboto"/>
                <a:ea typeface="Roboto"/>
                <a:cs typeface="Roboto"/>
              </a:rPr>
              <a:t>3.  runtime-container монтирует emptyDir
     и загружает веса в CPU / GPU</a:t>
            </a:r>
          </a:p>
          <a:p>
            <a:pPr algn="l">
              <a:buNone/>
              <a:spcBef>
                <a:spcPts val="450"/>
              </a:spcBef>
              <a:spcAft>
                <a:spcPts val="0"/>
              </a:spcAft>
            </a:pP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-RU" sz="1700" b="1">
                <a:latin typeface="Roboto"/>
                <a:ea typeface="Roboto"/>
                <a:cs typeface="Roboto"/>
              </a:rPr>
              <a:t>Ключевые проблемы:</a:t>
            </a:r>
          </a:p>
          <a:p>
            <a:pPr algn="l">
              <a:buNone/>
              <a:spcBef>
                <a:spcPts val="300"/>
              </a:spcBef>
              <a:spcAft>
                <a:spcPts val="0"/>
              </a:spcAft>
            </a:pP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-RU" sz="1520">
                <a:latin typeface="Roboto"/>
                <a:ea typeface="Roboto"/>
                <a:cs typeface="Roboto"/>
              </a:rPr>
              <a:t>  ✕  Нет переиспользования — каждый Pod скачивает заново</a:t>
            </a: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-RU" sz="1520">
                <a:latin typeface="Roboto"/>
                <a:ea typeface="Roboto"/>
                <a:cs typeface="Roboto"/>
              </a:rPr>
              <a:t>  ✕  10 реплик = 10 × 15 ГБ = 150 ГБ внешнего трафика</a:t>
            </a: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-RU" sz="1520">
                <a:latin typeface="Roboto"/>
                <a:ea typeface="Roboto"/>
                <a:cs typeface="Roboto"/>
              </a:rPr>
              <a:t>  ✕  </a:t>
            </a:r>
            <a:r>
              <a:rPr lang="ru-RU" sz="1520" i="1">
                <a:latin typeface="Roboto"/>
                <a:ea typeface="Roboto"/>
                <a:cs typeface="Roboto"/>
              </a:rPr>
              <a:t>T</a:t>
            </a:r>
            <a:r>
              <a:rPr lang="ru-RU" sz="1094" baseline="-25000">
                <a:latin typeface="Roboto"/>
                <a:ea typeface="Roboto"/>
                <a:cs typeface="Roboto"/>
              </a:rPr>
              <a:t>first_byte</a:t>
            </a:r>
            <a:r>
              <a:rPr lang="ru-RU" sz="1520">
                <a:latin typeface="Roboto"/>
                <a:ea typeface="Roboto"/>
                <a:cs typeface="Roboto"/>
              </a:rPr>
              <a:t> = </a:t>
            </a:r>
            <a:r>
              <a:rPr lang="ru-RU" sz="1520" i="1">
                <a:latin typeface="Roboto"/>
                <a:ea typeface="Roboto"/>
                <a:cs typeface="Roboto"/>
              </a:rPr>
              <a:t>T</a:t>
            </a:r>
            <a:r>
              <a:rPr lang="ru-RU" sz="1094" baseline="-25000">
                <a:latin typeface="Roboto"/>
                <a:ea typeface="Roboto"/>
                <a:cs typeface="Roboto"/>
              </a:rPr>
              <a:t>model_ready</a:t>
            </a:r>
            <a:r>
              <a:rPr lang="ru-RU" sz="1520">
                <a:latin typeface="Roboto"/>
                <a:ea typeface="Roboto"/>
                <a:cs typeface="Roboto"/>
              </a:rPr>
              <a:t> ≈ 75 с</a:t>
            </a: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-RU" sz="1520">
                <a:latin typeface="Roboto"/>
                <a:ea typeface="Roboto"/>
                <a:cs typeface="Roboto"/>
              </a:rPr>
              <a:t>  ✕  Привязка к доступности HuggingFace Hub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960120"/>
            <a:ext cx="4160520" cy="397763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810" y="0"/>
            <a:ext cx="8520379" cy="914400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-RU" sz="2800" b="1">
                <a:latin typeface="Roboto"/>
                <a:ea typeface="Roboto"/>
                <a:cs typeface="Roboto"/>
              </a:rPr>
              <a:t>Требования к архитектуре</a:t>
            </a:r>
          </a:p>
        </p:txBody>
      </p:sp>
      <p:sp>
        <p:nvSpPr>
          <p:cNvPr id="3" name="Rectangle 2"/>
          <p:cNvSpPr/>
          <p:nvPr/>
        </p:nvSpPr>
        <p:spPr>
          <a:xfrm>
            <a:off x="292608" y="914400"/>
            <a:ext cx="8595360" cy="749808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32688"/>
            <a:ext cx="8412480" cy="713232"/>
          </a:xfrm>
          <a:prstGeom prst="rect">
            <a:avLst/>
          </a:prstGeom>
          <a:noFill/>
        </p:spPr>
        <p:txBody>
          <a:bodyPr wrap="square" anchor="t" anchorCtr="0">
            <a:spAutoFit/>
          </a:bodyPr>
          <a:lstStyle/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-RU" sz="1350" b="1">
                <a:latin typeface="Roboto"/>
                <a:ea typeface="Roboto"/>
                <a:cs typeface="Roboto"/>
              </a:rPr>
              <a:t>Метрики: </a:t>
            </a:r>
            <a:r>
              <a:rPr lang="ru-RU" sz="1350" i="1">
                <a:latin typeface="Roboto"/>
                <a:ea typeface="Roboto"/>
                <a:cs typeface="Roboto"/>
              </a:rPr>
              <a:t>T</a:t>
            </a:r>
            <a:r>
              <a:rPr lang="ru-RU" sz="972" baseline="-25000">
                <a:latin typeface="Roboto"/>
                <a:ea typeface="Roboto"/>
                <a:cs typeface="Roboto"/>
              </a:rPr>
              <a:t>model_ready</a:t>
            </a:r>
            <a:r>
              <a:rPr lang="ru-RU" sz="1350">
                <a:latin typeface="Roboto"/>
                <a:ea typeface="Roboto"/>
                <a:cs typeface="Roboto"/>
              </a:rPr>
              <a:t> — время от планирования пода до готовности ML-runtime принять первый запрос;  </a:t>
            </a:r>
            <a:r>
              <a:rPr lang="ru-RU" sz="1350" i="1">
                <a:latin typeface="Roboto"/>
                <a:ea typeface="Roboto"/>
                <a:cs typeface="Roboto"/>
              </a:rPr>
              <a:t>T</a:t>
            </a:r>
            <a:r>
              <a:rPr lang="ru-RU" sz="972" baseline="-25000">
                <a:latin typeface="Roboto"/>
                <a:ea typeface="Roboto"/>
                <a:cs typeface="Roboto"/>
              </a:rPr>
              <a:t>first_byte</a:t>
            </a:r>
            <a:r>
              <a:rPr lang="ru-RU" sz="1350">
                <a:latin typeface="Roboto"/>
                <a:ea typeface="Roboto"/>
                <a:cs typeface="Roboto"/>
              </a:rPr>
              <a:t> — время до первого байта данных модели при lazy FUSE loading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2394" y="1737360"/>
            <a:ext cx="4160520" cy="3200400"/>
          </a:xfrm>
          <a:prstGeom prst="rect">
            <a:avLst/>
          </a:prstGeom>
          <a:noFill/>
        </p:spPr>
        <p:txBody>
          <a:bodyPr wrap="square" anchor="t" anchorCtr="0">
            <a:spAutoFit/>
          </a:bodyPr>
          <a:lstStyle/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-RU" sz="1800" b="1">
                <a:latin typeface="Roboto"/>
                <a:ea typeface="Roboto"/>
                <a:cs typeface="Roboto"/>
              </a:rPr>
              <a:t>Функциональные:</a:t>
            </a:r>
          </a:p>
          <a:p>
            <a:pPr algn="l">
              <a:buNone/>
              <a:spcBef>
                <a:spcPts val="300"/>
              </a:spcBef>
              <a:spcAft>
                <a:spcPts val="0"/>
              </a:spcAft>
            </a:pP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-RU" sz="1500">
                <a:latin typeface="Roboto"/>
                <a:ea typeface="Roboto"/>
                <a:cs typeface="Roboto"/>
              </a:rPr>
              <a:t>  •  Переиспользование весов между запусками</a:t>
            </a: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-RU" sz="1500">
                <a:latin typeface="Roboto"/>
                <a:ea typeface="Roboto"/>
                <a:cs typeface="Roboto"/>
              </a:rPr>
              <a:t>  •  P2P-передача чанков между нодами без HF Hub</a:t>
            </a: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-RU" sz="1500">
                <a:latin typeface="Roboto"/>
                <a:ea typeface="Roboto"/>
                <a:cs typeface="Roboto"/>
              </a:rPr>
              <a:t>  •  Стандартный POSIX-интерфейс для ML-runtime</a:t>
            </a: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-RU" sz="1500">
                <a:latin typeface="Roboto"/>
                <a:ea typeface="Roboto"/>
                <a:cs typeface="Roboto"/>
              </a:rPr>
              <a:t>  •  Автоматический fallback на внешний репозиторий</a:t>
            </a: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-RU" sz="1500">
                <a:latin typeface="Roboto"/>
                <a:ea typeface="Roboto"/>
                <a:cs typeface="Roboto"/>
              </a:rPr>
              <a:t>  •  Совместимость с Kubernetes (DaemonSet, CSI)</a:t>
            </a: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-RU" sz="1500">
                <a:latin typeface="Roboto"/>
                <a:ea typeface="Roboto"/>
                <a:cs typeface="Roboto"/>
              </a:rPr>
              <a:t>  •  Атомарная запись чанков: tmp-файл → os.Rename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00600" y="1737360"/>
            <a:ext cx="4069080" cy="3200400"/>
          </a:xfrm>
          <a:prstGeom prst="rect">
            <a:avLst/>
          </a:prstGeom>
          <a:noFill/>
        </p:spPr>
        <p:txBody>
          <a:bodyPr wrap="square" anchor="t" anchorCtr="0">
            <a:spAutoFit/>
          </a:bodyPr>
          <a:lstStyle/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-RU" sz="1800" b="1">
                <a:latin typeface="Roboto"/>
                <a:ea typeface="Roboto"/>
                <a:cs typeface="Roboto"/>
              </a:rPr>
              <a:t>Нефункциональные:</a:t>
            </a:r>
          </a:p>
          <a:p>
            <a:pPr algn="l">
              <a:buNone/>
              <a:spcBef>
                <a:spcPts val="300"/>
              </a:spcBef>
              <a:spcAft>
                <a:spcPts val="0"/>
              </a:spcAft>
            </a:pP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-RU" sz="1500">
                <a:latin typeface="Roboto"/>
                <a:ea typeface="Roboto"/>
                <a:cs typeface="Roboto"/>
              </a:rPr>
              <a:t>  •  </a:t>
            </a:r>
            <a:r>
              <a:rPr lang="ru-RU" sz="1500" i="1">
                <a:latin typeface="Roboto"/>
                <a:ea typeface="Roboto"/>
                <a:cs typeface="Roboto"/>
              </a:rPr>
              <a:t>T</a:t>
            </a:r>
            <a:r>
              <a:rPr lang="ru-RU" sz="1080" baseline="-25000">
                <a:latin typeface="Roboto"/>
                <a:ea typeface="Roboto"/>
                <a:cs typeface="Roboto"/>
              </a:rPr>
              <a:t>model_ready</a:t>
            </a:r>
            <a:r>
              <a:rPr lang="ru-RU" sz="1500">
                <a:latin typeface="Roboto"/>
                <a:ea typeface="Roboto"/>
                <a:cs typeface="Roboto"/>
              </a:rPr>
              <a:t> при local hit ≤ 3 с (15 ГБ)</a:t>
            </a: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-RU" sz="1500">
                <a:latin typeface="Roboto"/>
                <a:ea typeface="Roboto"/>
                <a:cs typeface="Roboto"/>
              </a:rPr>
              <a:t>  •  </a:t>
            </a:r>
            <a:r>
              <a:rPr lang="ru-RU" sz="1500" i="1">
                <a:latin typeface="Roboto"/>
                <a:ea typeface="Roboto"/>
                <a:cs typeface="Roboto"/>
              </a:rPr>
              <a:t>T</a:t>
            </a:r>
            <a:r>
              <a:rPr lang="ru-RU" sz="1080" baseline="-25000">
                <a:latin typeface="Roboto"/>
                <a:ea typeface="Roboto"/>
                <a:cs typeface="Roboto"/>
              </a:rPr>
              <a:t>first_byte</a:t>
            </a:r>
            <a:r>
              <a:rPr lang="ru-RU" sz="1500">
                <a:latin typeface="Roboto"/>
                <a:ea typeface="Roboto"/>
                <a:cs typeface="Roboto"/>
              </a:rPr>
              <a:t> (lazy FUSE loading) &lt; 1 с</a:t>
            </a: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-RU" sz="1500">
                <a:latin typeface="Roboto"/>
                <a:ea typeface="Roboto"/>
                <a:cs typeface="Roboto"/>
              </a:rPr>
              <a:t>  •  Трафик N = 10 реплик = 1× размер модели</a:t>
            </a: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-RU" sz="1500">
                <a:latin typeface="Roboto"/>
                <a:ea typeface="Roboto"/>
                <a:cs typeface="Roboto"/>
              </a:rPr>
              <a:t>  •  Отказ worker-ноды → graceful degradation</a:t>
            </a: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-RU" sz="1500">
                <a:latin typeface="Roboto"/>
                <a:ea typeface="Roboto"/>
                <a:cs typeface="Roboto"/>
              </a:rPr>
              <a:t>  •  Overhead FUSE (посл. чтение) ≤ 0.5 % CPU</a:t>
            </a: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-RU" sz="1500">
                <a:latin typeface="Roboto"/>
                <a:ea typeface="Roboto"/>
                <a:cs typeface="Roboto"/>
              </a:rPr>
              <a:t>  •  Redis lookup latency p99 &lt; 5 мс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810" y="0"/>
            <a:ext cx="8520379" cy="914400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-RU" sz="2800" b="1">
                <a:latin typeface="Roboto"/>
                <a:ea typeface="Roboto"/>
                <a:cs typeface="Roboto"/>
              </a:rPr>
              <a:t>Стек технологий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2394" y="960120"/>
            <a:ext cx="8351215" cy="4023360"/>
          </a:xfrm>
          <a:prstGeom prst="rect">
            <a:avLst/>
          </a:prstGeom>
          <a:noFill/>
        </p:spPr>
        <p:txBody>
          <a:bodyPr wrap="square" anchor="t" anchorCtr="0">
            <a:spAutoFit/>
          </a:bodyPr>
          <a:lstStyle/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-RU" sz="1800" b="1">
                <a:latin typeface="Roboto"/>
                <a:ea typeface="Roboto"/>
                <a:cs typeface="Roboto"/>
              </a:rPr>
              <a:t>Kubernetes</a:t>
            </a: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-RU" sz="1500">
                <a:solidFill>
                  <a:srgbClr val="424242"/>
                </a:solidFill>
                <a:latin typeface="Roboto"/>
                <a:ea typeface="Roboto"/>
                <a:cs typeface="Roboto"/>
              </a:rPr>
              <a:t>   Оркестрация: DaemonSet для storage-agent; PVC, CSI-интеграция</a:t>
            </a:r>
          </a:p>
          <a:p>
            <a:pPr algn="l">
              <a:buNone/>
              <a:spcBef>
                <a:spcPts val="250"/>
              </a:spcBef>
              <a:spcAft>
                <a:spcPts val="0"/>
              </a:spcAft>
            </a:pP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-RU" sz="1800" b="1">
                <a:latin typeface="Roboto"/>
                <a:ea typeface="Roboto"/>
                <a:cs typeface="Roboto"/>
              </a:rPr>
              <a:t>Go</a:t>
            </a: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-RU" sz="1500">
                <a:solidFill>
                  <a:srgbClr val="424242"/>
                </a:solidFill>
                <a:latin typeface="Roboto"/>
                <a:ea typeface="Roboto"/>
                <a:cs typeface="Roboto"/>
              </a:rPr>
              <a:t>   Реализация storage-agent и storage-mounter; библиотека go-fuse</a:t>
            </a:r>
          </a:p>
          <a:p>
            <a:pPr algn="l">
              <a:buNone/>
              <a:spcBef>
                <a:spcPts val="250"/>
              </a:spcBef>
              <a:spcAft>
                <a:spcPts val="0"/>
              </a:spcAft>
            </a:pP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-RU" sz="1800" b="1">
                <a:latin typeface="Roboto"/>
                <a:ea typeface="Roboto"/>
                <a:cs typeface="Roboto"/>
              </a:rPr>
              <a:t>Redis</a:t>
            </a: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-RU" sz="1500">
                <a:solidFill>
                  <a:srgbClr val="424242"/>
                </a:solidFill>
                <a:latin typeface="Roboto"/>
                <a:ea typeface="Roboto"/>
                <a:cs typeface="Roboto"/>
              </a:rPr>
              <a:t>   Реестр метаданных чанков: TTL-записи, heartbeat агентов (Sentinel / Cluster)</a:t>
            </a:r>
          </a:p>
          <a:p>
            <a:pPr algn="l">
              <a:buNone/>
              <a:spcBef>
                <a:spcPts val="250"/>
              </a:spcBef>
              <a:spcAft>
                <a:spcPts val="0"/>
              </a:spcAft>
            </a:pP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-RU" sz="1800" b="1">
                <a:latin typeface="Roboto"/>
                <a:ea typeface="Roboto"/>
                <a:cs typeface="Roboto"/>
              </a:rPr>
              <a:t>FUSE (Linux)</a:t>
            </a: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-RU" sz="1500">
                <a:solidFill>
                  <a:srgbClr val="424242"/>
                </a:solidFill>
                <a:latin typeface="Roboto"/>
                <a:ea typeface="Roboto"/>
                <a:cs typeface="Roboto"/>
              </a:rPr>
              <a:t>   Виртуальная ФС — ML-runtime видит обычные файлы без изменений кода</a:t>
            </a:r>
          </a:p>
          <a:p>
            <a:pPr algn="l">
              <a:buNone/>
              <a:spcBef>
                <a:spcPts val="250"/>
              </a:spcBef>
              <a:spcAft>
                <a:spcPts val="0"/>
              </a:spcAft>
            </a:pP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-RU" sz="1800" b="1">
                <a:latin typeface="Roboto"/>
                <a:ea typeface="Roboto"/>
                <a:cs typeface="Roboto"/>
              </a:rPr>
              <a:t>HuggingFace Hub</a:t>
            </a: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-RU" sz="1500">
                <a:solidFill>
                  <a:srgbClr val="424242"/>
                </a:solidFill>
                <a:latin typeface="Roboto"/>
                <a:ea typeface="Roboto"/>
                <a:cs typeface="Roboto"/>
              </a:rPr>
              <a:t>   Внешний репозиторий весов; fallback-источник при отсутствии кэша</a:t>
            </a:r>
          </a:p>
          <a:p>
            <a:pPr algn="l">
              <a:buNone/>
              <a:spcBef>
                <a:spcPts val="250"/>
              </a:spcBef>
              <a:spcAft>
                <a:spcPts val="0"/>
              </a:spcAft>
            </a:pP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-RU" sz="1800" b="1">
                <a:latin typeface="Roboto"/>
                <a:ea typeface="Roboto"/>
                <a:cs typeface="Roboto"/>
              </a:rPr>
              <a:t>NFS  ·  Docker / containerd  ·  Prometheus + Grafana</a:t>
            </a: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-RU" sz="1500">
                <a:solidFill>
                  <a:srgbClr val="424242"/>
                </a:solidFill>
                <a:latin typeface="Roboto"/>
                <a:ea typeface="Roboto"/>
                <a:cs typeface="Roboto"/>
              </a:rPr>
              <a:t>   Промежуточный этап с flock / Lease; контейнеризация; мониторинг hit rate и latency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810" y="0"/>
            <a:ext cx="8520379" cy="914400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-RU" sz="2800" b="1">
                <a:latin typeface="Roboto"/>
                <a:ea typeface="Roboto"/>
                <a:cs typeface="Roboto"/>
              </a:rPr>
              <a:t>Предложенная архитектура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005840"/>
            <a:ext cx="4572000" cy="393192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606040"/>
            <a:ext cx="4572000" cy="457200"/>
          </a:xfrm>
          <a:prstGeom prst="rect">
            <a:avLst/>
          </a:prstGeom>
          <a:noFill/>
        </p:spPr>
        <p:txBody>
          <a:bodyPr wrap="square" anchor="t" anchorCtr="0">
            <a:spAutoFit/>
          </a:bodyPr>
          <a:lstStyle/>
          <a:p>
            <a:pPr algn="c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-RU" sz="1000">
                <a:solidFill>
                  <a:srgbClr val="9E9E9E"/>
                </a:solidFill>
                <a:latin typeface="Roboto"/>
                <a:ea typeface="Roboto"/>
                <a:cs typeface="Roboto"/>
              </a:rPr>
              <a:t>[ схема P2P / FUSE-архитектуры 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66360" y="960120"/>
            <a:ext cx="3703320" cy="3931920"/>
          </a:xfrm>
          <a:prstGeom prst="rect">
            <a:avLst/>
          </a:prstGeom>
          <a:noFill/>
        </p:spPr>
        <p:txBody>
          <a:bodyPr wrap="square" anchor="t" anchorCtr="0">
            <a:spAutoFit/>
          </a:bodyPr>
          <a:lstStyle/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-RU" sz="1600" b="1">
                <a:solidFill>
                  <a:srgbClr val="058DC7"/>
                </a:solidFill>
                <a:latin typeface="Roboto"/>
                <a:ea typeface="Roboto"/>
                <a:cs typeface="Roboto"/>
              </a:rPr>
              <a:t>Redis Cluster</a:t>
            </a: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-RU" sz="1380">
                <a:latin typeface="Roboto"/>
                <a:ea typeface="Roboto"/>
                <a:cs typeface="Roboto"/>
              </a:rPr>
              <a:t>  Control Plane: реестр чанков + heartbeat (TTL 30 с)</a:t>
            </a:r>
          </a:p>
          <a:p>
            <a:pPr algn="l">
              <a:buNone/>
              <a:spcBef>
                <a:spcPts val="400"/>
              </a:spcBef>
              <a:spcAft>
                <a:spcPts val="0"/>
              </a:spcAft>
            </a:pP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-RU" sz="1600" b="1">
                <a:solidFill>
                  <a:srgbClr val="158158"/>
                </a:solidFill>
                <a:latin typeface="Roboto"/>
                <a:ea typeface="Roboto"/>
                <a:cs typeface="Roboto"/>
              </a:rPr>
              <a:t>storage-agent</a:t>
            </a: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-RU" sz="1380">
                <a:latin typeface="Roboto"/>
                <a:ea typeface="Roboto"/>
                <a:cs typeface="Roboto"/>
              </a:rPr>
              <a:t>  DaemonSet · chunk-кэш NVMe</a:t>
            </a: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-RU" sz="1380">
                <a:latin typeface="Roboto"/>
                <a:ea typeface="Roboto"/>
                <a:cs typeface="Roboto"/>
              </a:rPr>
              <a:t>  UDS ← mounter   TCP ↔ пиры</a:t>
            </a:r>
          </a:p>
          <a:p>
            <a:pPr algn="l">
              <a:buNone/>
              <a:spcBef>
                <a:spcPts val="400"/>
              </a:spcBef>
              <a:spcAft>
                <a:spcPts val="0"/>
              </a:spcAft>
            </a:pP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-RU" sz="1600" b="1">
                <a:solidFill>
                  <a:srgbClr val="158158"/>
                </a:solidFill>
                <a:latin typeface="Roboto"/>
                <a:ea typeface="Roboto"/>
                <a:cs typeface="Roboto"/>
              </a:rPr>
              <a:t>storage-mounter</a:t>
            </a: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-RU" sz="1380">
                <a:latin typeface="Roboto"/>
                <a:ea typeface="Roboto"/>
                <a:cs typeface="Roboto"/>
              </a:rPr>
              <a:t>  FUSE-ФС · lazy loading</a:t>
            </a: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-RU" sz="1380">
                <a:latin typeface="Roboto"/>
                <a:ea typeface="Roboto"/>
                <a:cs typeface="Roboto"/>
              </a:rPr>
              <a:t>  </a:t>
            </a:r>
            <a:r>
              <a:rPr lang="ru-RU" sz="1380" i="1">
                <a:latin typeface="Roboto"/>
                <a:ea typeface="Roboto"/>
                <a:cs typeface="Roboto"/>
              </a:rPr>
              <a:t>T</a:t>
            </a:r>
            <a:r>
              <a:rPr lang="ru-RU" sz="993" baseline="-25000">
                <a:latin typeface="Roboto"/>
                <a:ea typeface="Roboto"/>
                <a:cs typeface="Roboto"/>
              </a:rPr>
              <a:t>first_byte</a:t>
            </a:r>
            <a:r>
              <a:rPr lang="ru-RU" sz="1380">
                <a:latin typeface="Roboto"/>
                <a:ea typeface="Roboto"/>
                <a:cs typeface="Roboto"/>
              </a:rPr>
              <a:t> &lt; 1 с</a:t>
            </a:r>
          </a:p>
          <a:p>
            <a:pPr algn="l">
              <a:buNone/>
              <a:spcBef>
                <a:spcPts val="400"/>
              </a:spcBef>
              <a:spcAft>
                <a:spcPts val="0"/>
              </a:spcAft>
            </a:pP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-RU" sz="1500" b="1">
                <a:latin typeface="Roboto"/>
                <a:ea typeface="Roboto"/>
                <a:cs typeface="Roboto"/>
              </a:rPr>
              <a:t>Алгоритм чтения чанка:</a:t>
            </a: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-RU" sz="1380">
                <a:solidFill>
                  <a:srgbClr val="158158"/>
                </a:solidFill>
                <a:latin typeface="Roboto"/>
                <a:ea typeface="Roboto"/>
                <a:cs typeface="Roboto"/>
              </a:rPr>
              <a:t>  1. Локальный NVMe    →  2.3 мс  ✓</a:t>
            </a: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-RU" sz="1380">
                <a:solidFill>
                  <a:srgbClr val="E68A00"/>
                </a:solidFill>
                <a:latin typeface="Roboto"/>
                <a:ea typeface="Roboto"/>
                <a:cs typeface="Roboto"/>
              </a:rPr>
              <a:t>  2. Соседняя нода P2P →  13 мс</a:t>
            </a: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-RU" sz="1380">
                <a:solidFill>
                  <a:srgbClr val="C62828"/>
                </a:solidFill>
                <a:latin typeface="Roboto"/>
                <a:ea typeface="Roboto"/>
                <a:cs typeface="Roboto"/>
              </a:rPr>
              <a:t>  3. HuggingFace Hub   →  130+ мс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810" y="0"/>
            <a:ext cx="8520379" cy="914400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-RU" sz="2800" b="1">
                <a:latin typeface="Roboto"/>
                <a:ea typeface="Roboto"/>
                <a:cs typeface="Roboto"/>
              </a:rPr>
              <a:t>Нагрузочное тестирование: стенд и сценарии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2394" y="960120"/>
            <a:ext cx="4160520" cy="3977639"/>
          </a:xfrm>
          <a:prstGeom prst="rect">
            <a:avLst/>
          </a:prstGeom>
          <a:noFill/>
        </p:spPr>
        <p:txBody>
          <a:bodyPr wrap="square" anchor="t" anchorCtr="0">
            <a:spAutoFit/>
          </a:bodyPr>
          <a:lstStyle/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-RU" sz="1800" b="1">
                <a:latin typeface="Roboto"/>
                <a:ea typeface="Roboto"/>
                <a:cs typeface="Roboto"/>
              </a:rPr>
              <a:t>Тестовый стенд:</a:t>
            </a:r>
          </a:p>
          <a:p>
            <a:pPr algn="l">
              <a:buNone/>
              <a:spcBef>
                <a:spcPts val="300"/>
              </a:spcBef>
              <a:spcAft>
                <a:spcPts val="0"/>
              </a:spcAft>
            </a:pP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-RU" sz="1500">
                <a:latin typeface="Roboto"/>
                <a:ea typeface="Roboto"/>
                <a:cs typeface="Roboto"/>
              </a:rPr>
              <a:t>  •  6 worker-нод: Intel Xeon Silver, 16c/32t, 64 ГБ RAM</a:t>
            </a: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-RU" sz="1500">
                <a:latin typeface="Roboto"/>
                <a:ea typeface="Roboto"/>
                <a:cs typeface="Roboto"/>
              </a:rPr>
              <a:t>  •  Samsung 980 Pro NVMe 2 ТБ — seq. read 7 000 МБ/с</a:t>
            </a: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-RU" sz="1500">
                <a:latin typeface="Roboto"/>
                <a:ea typeface="Roboto"/>
                <a:cs typeface="Roboto"/>
              </a:rPr>
              <a:t>  •  Сеть: 10 Гбит/с Ethernet, RTT ≤ 0.5 мс</a:t>
            </a: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-RU" sz="1500">
                <a:latin typeface="Roboto"/>
                <a:ea typeface="Roboto"/>
                <a:cs typeface="Roboto"/>
              </a:rPr>
              <a:t>  •  Redis: 1 master + 2 replica (Sentinel)</a:t>
            </a:r>
          </a:p>
          <a:p>
            <a:pPr algn="l">
              <a:buNone/>
              <a:spcBef>
                <a:spcPts val="500"/>
              </a:spcBef>
              <a:spcAft>
                <a:spcPts val="0"/>
              </a:spcAft>
            </a:pP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-RU" sz="1800" b="1">
                <a:latin typeface="Roboto"/>
                <a:ea typeface="Roboto"/>
                <a:cs typeface="Roboto"/>
              </a:rPr>
              <a:t>Тестовые модели:</a:t>
            </a:r>
          </a:p>
          <a:p>
            <a:pPr algn="l">
              <a:buNone/>
              <a:spcBef>
                <a:spcPts val="300"/>
              </a:spcBef>
              <a:spcAft>
                <a:spcPts val="0"/>
              </a:spcAft>
            </a:pP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-RU" sz="1500">
                <a:latin typeface="Roboto"/>
                <a:ea typeface="Roboto"/>
                <a:cs typeface="Roboto"/>
              </a:rPr>
              <a:t>  •  Llama 3 8B   —  15 ГБ,    960 чанков × 16 МБ</a:t>
            </a: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-RU" sz="1500">
                <a:latin typeface="Roboto"/>
                <a:ea typeface="Roboto"/>
                <a:cs typeface="Roboto"/>
              </a:rPr>
              <a:t>  •  Mistral 7B   —  14 ГБ,    896 чанков × 16 МБ</a:t>
            </a: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-RU" sz="1500">
                <a:latin typeface="Roboto"/>
                <a:ea typeface="Roboto"/>
                <a:cs typeface="Roboto"/>
              </a:rPr>
              <a:t>  •  Llama 3 70B  —  140 ГБ,  8 960 чанков × 16 МБ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00600" y="960120"/>
            <a:ext cx="4069080" cy="3977639"/>
          </a:xfrm>
          <a:prstGeom prst="rect">
            <a:avLst/>
          </a:prstGeom>
          <a:noFill/>
        </p:spPr>
        <p:txBody>
          <a:bodyPr wrap="square" anchor="t" anchorCtr="0">
            <a:spAutoFit/>
          </a:bodyPr>
          <a:lstStyle/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-RU" sz="1800" b="1">
                <a:latin typeface="Roboto"/>
                <a:ea typeface="Roboto"/>
                <a:cs typeface="Roboto"/>
              </a:rPr>
              <a:t>Сценарии:</a:t>
            </a:r>
          </a:p>
          <a:p>
            <a:pPr algn="l">
              <a:buNone/>
              <a:spcBef>
                <a:spcPts val="300"/>
              </a:spcBef>
              <a:spcAft>
                <a:spcPts val="0"/>
              </a:spcAft>
            </a:pP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-RU" sz="1500">
                <a:latin typeface="Roboto"/>
                <a:ea typeface="Roboto"/>
                <a:cs typeface="Roboto"/>
              </a:rPr>
              <a:t>  1.  Cold cluster — кэш пуст, Redis пуст</a:t>
            </a: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-RU" sz="1350">
                <a:solidFill>
                  <a:srgbClr val="424242"/>
                </a:solidFill>
                <a:latin typeface="Roboto"/>
                <a:ea typeface="Roboto"/>
                <a:cs typeface="Roboto"/>
              </a:rPr>
              <a:t>       первый запуск в кластере</a:t>
            </a:r>
          </a:p>
          <a:p>
            <a:pPr algn="l">
              <a:buNone/>
              <a:spcBef>
                <a:spcPts val="200"/>
              </a:spcBef>
              <a:spcAft>
                <a:spcPts val="0"/>
              </a:spcAft>
            </a:pP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-RU" sz="1500">
                <a:latin typeface="Roboto"/>
                <a:ea typeface="Roboto"/>
                <a:cs typeface="Roboto"/>
              </a:rPr>
              <a:t>  2.  Warm (same node) — local cache hit</a:t>
            </a: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-RU" sz="1350">
                <a:solidFill>
                  <a:srgbClr val="424242"/>
                </a:solidFill>
                <a:latin typeface="Roboto"/>
                <a:ea typeface="Roboto"/>
                <a:cs typeface="Roboto"/>
              </a:rPr>
              <a:t>       модель уже есть на той же ноде</a:t>
            </a:r>
          </a:p>
          <a:p>
            <a:pPr algn="l">
              <a:buNone/>
              <a:spcBef>
                <a:spcPts val="200"/>
              </a:spcBef>
              <a:spcAft>
                <a:spcPts val="0"/>
              </a:spcAft>
            </a:pP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-RU" sz="1500">
                <a:latin typeface="Roboto"/>
                <a:ea typeface="Roboto"/>
                <a:cs typeface="Roboto"/>
              </a:rPr>
              <a:t>  3.  Warm (peer node) — P2P peer cache hit</a:t>
            </a: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-RU" sz="1350">
                <a:solidFill>
                  <a:srgbClr val="424242"/>
                </a:solidFill>
                <a:latin typeface="Roboto"/>
                <a:ea typeface="Roboto"/>
                <a:cs typeface="Roboto"/>
              </a:rPr>
              <a:t>       модель есть на соседней ноде</a:t>
            </a:r>
          </a:p>
          <a:p>
            <a:pPr algn="l">
              <a:buNone/>
              <a:spcBef>
                <a:spcPts val="200"/>
              </a:spcBef>
              <a:spcAft>
                <a:spcPts val="0"/>
              </a:spcAft>
            </a:pP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-RU" sz="1500">
                <a:latin typeface="Roboto"/>
                <a:ea typeface="Roboto"/>
                <a:cs typeface="Roboto"/>
              </a:rPr>
              <a:t>  4.  Burst ×10 — 10 подов одновременно</a:t>
            </a: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-RU" sz="1350">
                <a:solidFill>
                  <a:srgbClr val="424242"/>
                </a:solidFill>
                <a:latin typeface="Roboto"/>
                <a:ea typeface="Roboto"/>
                <a:cs typeface="Roboto"/>
              </a:rPr>
              <a:t>       суммарный трафик и p99 по репликам</a:t>
            </a:r>
          </a:p>
          <a:p>
            <a:pPr algn="l">
              <a:buNone/>
              <a:spcBef>
                <a:spcPts val="500"/>
              </a:spcBef>
              <a:spcAft>
                <a:spcPts val="0"/>
              </a:spcAft>
            </a:pP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-RU" sz="1250" i="1">
                <a:solidFill>
                  <a:srgbClr val="424242"/>
                </a:solidFill>
                <a:latin typeface="Roboto"/>
                <a:ea typeface="Roboto"/>
                <a:cs typeface="Roboto"/>
              </a:rPr>
              <a:t>Метрики: </a:t>
            </a:r>
            <a:r>
              <a:rPr lang="ru-RU" sz="1250" i="1">
                <a:solidFill>
                  <a:srgbClr val="424242"/>
                </a:solidFill>
                <a:latin typeface="Roboto"/>
                <a:ea typeface="Roboto"/>
                <a:cs typeface="Roboto"/>
              </a:rPr>
              <a:t>T</a:t>
            </a:r>
            <a:r>
              <a:rPr lang="ru-RU" sz="900" baseline="-25000">
                <a:solidFill>
                  <a:srgbClr val="424242"/>
                </a:solidFill>
                <a:latin typeface="Roboto"/>
                <a:ea typeface="Roboto"/>
                <a:cs typeface="Roboto"/>
              </a:rPr>
              <a:t>model_ready</a:t>
            </a:r>
            <a:r>
              <a:rPr lang="ru-RU" sz="1250" i="1">
                <a:solidFill>
                  <a:srgbClr val="424242"/>
                </a:solidFill>
                <a:latin typeface="Roboto"/>
                <a:ea typeface="Roboto"/>
                <a:cs typeface="Roboto"/>
              </a:rPr>
              <a:t> (p50/p99)  ·  </a:t>
            </a:r>
            <a:r>
              <a:rPr lang="ru-RU" sz="1250" i="1">
                <a:solidFill>
                  <a:srgbClr val="424242"/>
                </a:solidFill>
                <a:latin typeface="Roboto"/>
                <a:ea typeface="Roboto"/>
                <a:cs typeface="Roboto"/>
              </a:rPr>
              <a:t>T</a:t>
            </a:r>
            <a:r>
              <a:rPr lang="ru-RU" sz="900" baseline="-25000">
                <a:solidFill>
                  <a:srgbClr val="424242"/>
                </a:solidFill>
                <a:latin typeface="Roboto"/>
                <a:ea typeface="Roboto"/>
                <a:cs typeface="Roboto"/>
              </a:rPr>
              <a:t>first_byte</a:t>
            </a:r>
            <a:r>
              <a:rPr lang="ru-RU" sz="1250">
                <a:solidFill>
                  <a:srgbClr val="424242"/>
                </a:solidFill>
                <a:latin typeface="Roboto"/>
                <a:ea typeface="Roboto"/>
                <a:cs typeface="Roboto"/>
              </a:rPr>
              <a:t>  ·  </a:t>
            </a:r>
            <a:r>
              <a:rPr lang="ru-RU" sz="1250" i="1">
                <a:solidFill>
                  <a:srgbClr val="424242"/>
                </a:solidFill>
                <a:latin typeface="Roboto"/>
                <a:ea typeface="Roboto"/>
                <a:cs typeface="Roboto"/>
              </a:rPr>
              <a:t>V</a:t>
            </a:r>
            <a:r>
              <a:rPr lang="ru-RU" sz="900" baseline="-25000">
                <a:solidFill>
                  <a:srgbClr val="424242"/>
                </a:solidFill>
                <a:latin typeface="Roboto"/>
                <a:ea typeface="Roboto"/>
                <a:cs typeface="Roboto"/>
              </a:rPr>
              <a:t>ext</a:t>
            </a:r>
            <a:r>
              <a:rPr lang="ru-RU" sz="1250" i="1">
                <a:solidFill>
                  <a:srgbClr val="424242"/>
                </a:solidFill>
                <a:latin typeface="Roboto"/>
                <a:ea typeface="Roboto"/>
                <a:cs typeface="Roboto"/>
              </a:rPr>
              <a:t>  ·  Redis p99  ·  CPU FUSE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810" y="0"/>
            <a:ext cx="8520379" cy="914400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-RU" sz="2800" b="1">
                <a:latin typeface="Roboto"/>
                <a:ea typeface="Roboto"/>
                <a:cs typeface="Roboto"/>
              </a:rPr>
              <a:t>Результаты тестирования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914400"/>
          <a:ext cx="8641080" cy="2176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828800"/>
                <a:gridCol w="1600200"/>
                <a:gridCol w="2468880"/>
              </a:tblGrid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Roboto"/>
                        </a:rPr>
                        <a:t>Показатель</a:t>
                      </a:r>
                    </a:p>
                  </a:txBody>
                  <a:tcPr>
                    <a:solidFill>
                      <a:srgbClr val="15815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Roboto"/>
                        </a:rPr>
                        <a:t>emptyDir (baseline)</a:t>
                      </a:r>
                    </a:p>
                  </a:txBody>
                  <a:tcPr>
                    <a:solidFill>
                      <a:srgbClr val="15815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Roboto"/>
                        </a:rPr>
                        <a:t>NFS</a:t>
                      </a:r>
                    </a:p>
                  </a:txBody>
                  <a:tcPr>
                    <a:solidFill>
                      <a:srgbClr val="15815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Roboto"/>
                        </a:rPr>
                        <a:t>P2P + FUSE</a:t>
                      </a:r>
                    </a:p>
                  </a:txBody>
                  <a:tcPr>
                    <a:solidFill>
                      <a:srgbClr val="15815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Roboto"/>
                        </a:rPr>
                        <a:t>T_model_ready,  cold cluster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Roboto"/>
                        </a:rPr>
                        <a:t>~74.8 с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Roboto"/>
                        </a:rPr>
                        <a:t>~74.2 с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Roboto"/>
                        </a:rPr>
                        <a:t>~74.5 с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Roboto"/>
                        </a:rPr>
                        <a:t>T_model_ready,  warm (same node)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Roboto"/>
                        </a:rPr>
                        <a:t>~74.8 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Roboto"/>
                        </a:rPr>
                        <a:t>~11.7 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Roboto"/>
                        </a:rPr>
                        <a:t>~1.9 с  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Roboto"/>
                        </a:rPr>
                        <a:t>T_model_ready,  warm (peer node)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Roboto"/>
                        </a:rPr>
                        <a:t>~74.8 с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Roboto"/>
                        </a:rPr>
                        <a:t>~11.7 с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Roboto"/>
                        </a:rPr>
                        <a:t>~13.1 с  ✓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Roboto"/>
                        </a:rPr>
                        <a:t>T_first_byte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Roboto"/>
                        </a:rPr>
                        <a:t>~74.8 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Roboto"/>
                        </a:rPr>
                        <a:t>~74.2 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Roboto"/>
                        </a:rPr>
                        <a:t>&lt; 1 с  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Roboto"/>
                        </a:rPr>
                        <a:t>Внешний трафик,  N = 10 реплик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Roboto"/>
                        </a:rPr>
                        <a:t>150 ГБ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Roboto"/>
                        </a:rPr>
                        <a:t>15 ГБ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Roboto"/>
                        </a:rPr>
                        <a:t>15 ГБ  ✓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Roboto"/>
                        </a:rPr>
                        <a:t>SPOF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Roboto"/>
                        </a:rPr>
                        <a:t>нет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Roboto"/>
                        </a:rPr>
                        <a:t>NFS-сервер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Roboto"/>
                        </a:rPr>
                        <a:t>Redis (HA → нет)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3154680"/>
            <a:ext cx="5303520" cy="18288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3560" y="3154680"/>
            <a:ext cx="329184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810" y="0"/>
            <a:ext cx="8520379" cy="914400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-RU" sz="2800" b="1">
                <a:latin typeface="Roboto"/>
                <a:ea typeface="Roboto"/>
                <a:cs typeface="Roboto"/>
              </a:rPr>
              <a:t>Анализ надёжности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60120"/>
            <a:ext cx="4480560" cy="3977639"/>
          </a:xfrm>
          <a:prstGeom prst="rect">
            <a:avLst/>
          </a:prstGeom>
          <a:noFill/>
        </p:spPr>
        <p:txBody>
          <a:bodyPr wrap="square" anchor="t" anchorCtr="0">
            <a:spAutoFit/>
          </a:bodyPr>
          <a:lstStyle/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-RU" sz="1600" b="1">
                <a:latin typeface="Roboto"/>
                <a:ea typeface="Roboto"/>
                <a:cs typeface="Roboto"/>
              </a:rPr>
              <a:t>Сценарий 1: Отказ worker-ноды</a:t>
            </a: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-RU" sz="1380">
                <a:latin typeface="Roboto"/>
                <a:ea typeface="Roboto"/>
                <a:cs typeface="Roboto"/>
              </a:rPr>
              <a:t>  TTL в Redis истекает через 30 с → автоочистка.</a:t>
            </a: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-RU" sz="1380">
                <a:latin typeface="Roboto"/>
                <a:ea typeface="Roboto"/>
                <a:cs typeface="Roboto"/>
              </a:rPr>
              <a:t>  r = 2: P(потери) = 10⁻⁴;   r = 3: P = 10⁻⁶</a:t>
            </a: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-RU" sz="1380">
                <a:solidFill>
                  <a:srgbClr val="158158"/>
                </a:solidFill>
                <a:latin typeface="Roboto"/>
                <a:ea typeface="Roboto"/>
                <a:cs typeface="Roboto"/>
              </a:rPr>
              <a:t>  → деградация к HF fallback, не остановка</a:t>
            </a:r>
          </a:p>
          <a:p>
            <a:pPr algn="l">
              <a:buNone/>
              <a:spcBef>
                <a:spcPts val="450"/>
              </a:spcBef>
              <a:spcAft>
                <a:spcPts val="0"/>
              </a:spcAft>
            </a:pP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-RU" sz="1600" b="1">
                <a:latin typeface="Roboto"/>
                <a:ea typeface="Roboto"/>
                <a:cs typeface="Roboto"/>
              </a:rPr>
              <a:t>Сценарий 2: Недоступность Redis</a:t>
            </a: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-RU" sz="1380">
                <a:latin typeface="Roboto"/>
                <a:ea typeface="Roboto"/>
                <a:cs typeface="Roboto"/>
              </a:rPr>
              <a:t>  Агент теряет peer discovery.</a:t>
            </a: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-RU" sz="1380">
                <a:latin typeface="Roboto"/>
                <a:ea typeface="Roboto"/>
                <a:cs typeface="Roboto"/>
              </a:rPr>
              <a:t>  Работает: local cache → HuggingFace (без P2P).</a:t>
            </a: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-RU" sz="1380">
                <a:solidFill>
                  <a:srgbClr val="158158"/>
                </a:solidFill>
                <a:latin typeface="Roboto"/>
                <a:ea typeface="Roboto"/>
                <a:cs typeface="Roboto"/>
              </a:rPr>
              <a:t>  → сервис работает при наличии local кэша</a:t>
            </a:r>
          </a:p>
          <a:p>
            <a:pPr algn="l">
              <a:buNone/>
              <a:spcBef>
                <a:spcPts val="450"/>
              </a:spcBef>
              <a:spcAft>
                <a:spcPts val="0"/>
              </a:spcAft>
            </a:pP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-RU" sz="1600" b="1">
                <a:latin typeface="Roboto"/>
                <a:ea typeface="Roboto"/>
                <a:cs typeface="Roboto"/>
              </a:rPr>
              <a:t>Сценарий 3: Недоступность HuggingFace Hub</a:t>
            </a: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-RU" sz="1380">
                <a:latin typeface="Roboto"/>
                <a:ea typeface="Roboto"/>
                <a:cs typeface="Roboto"/>
              </a:rPr>
              <a:t>  Прогретый кластер полностью автономен.</a:t>
            </a: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-RU" sz="1380">
                <a:latin typeface="Roboto"/>
                <a:ea typeface="Roboto"/>
                <a:cs typeface="Roboto"/>
              </a:rPr>
              <a:t>  NFS: отказ сервера = полная остановка.</a:t>
            </a: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-RU" sz="1380">
                <a:solidFill>
                  <a:srgbClr val="158158"/>
                </a:solidFill>
                <a:latin typeface="Roboto"/>
                <a:ea typeface="Roboto"/>
                <a:cs typeface="Roboto"/>
              </a:rPr>
              <a:t>  P2P/FUSE → graceful degradation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960120"/>
            <a:ext cx="4069080" cy="201168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3063240"/>
            <a:ext cx="4069080" cy="19202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810" y="0"/>
            <a:ext cx="8520379" cy="914400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-RU" sz="2800" b="1">
                <a:latin typeface="Roboto"/>
                <a:ea typeface="Roboto"/>
                <a:cs typeface="Roboto"/>
              </a:rPr>
              <a:t>Итоги работы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2394" y="960120"/>
            <a:ext cx="8351215" cy="4023360"/>
          </a:xfrm>
          <a:prstGeom prst="rect">
            <a:avLst/>
          </a:prstGeom>
          <a:noFill/>
        </p:spPr>
        <p:txBody>
          <a:bodyPr wrap="square" anchor="t" anchorCtr="0">
            <a:spAutoFit/>
          </a:bodyPr>
          <a:lstStyle/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-RU" sz="1800" b="1">
                <a:latin typeface="Roboto"/>
                <a:ea typeface="Roboto"/>
                <a:cs typeface="Roboto"/>
              </a:rPr>
              <a:t>Выполненные задачи:</a:t>
            </a:r>
          </a:p>
          <a:p>
            <a:pPr algn="l">
              <a:buNone/>
              <a:spcBef>
                <a:spcPts val="200"/>
              </a:spcBef>
              <a:spcAft>
                <a:spcPts val="0"/>
              </a:spcAft>
            </a:pP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-RU" sz="1600">
                <a:latin typeface="Roboto"/>
                <a:ea typeface="Roboto"/>
                <a:cs typeface="Roboto"/>
              </a:rPr>
              <a:t>  ✓  Проведён анализ причин и масштаба проблемы cold start в serverless ML inference</a:t>
            </a: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-RU" sz="1600">
                <a:latin typeface="Roboto"/>
                <a:ea typeface="Roboto"/>
                <a:cs typeface="Roboto"/>
              </a:rPr>
              <a:t>  ✓  Исследованы и сравнены 5 решений: Alluxio, JuiceFS, Dragonfly, CubeFS, Rook/Ceph</a:t>
            </a: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-RU" sz="1600">
                <a:latin typeface="Roboto"/>
                <a:ea typeface="Roboto"/>
                <a:cs typeface="Roboto"/>
              </a:rPr>
              <a:t>  ✓  Разработан NFS-этап с Leader Election через Kubernetes Lease</a:t>
            </a: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-RU" sz="1600">
                <a:latin typeface="Roboto"/>
                <a:ea typeface="Roboto"/>
                <a:cs typeface="Roboto"/>
              </a:rPr>
              <a:t>  ✓  Спроектирована P2P/FUSE-архитектура с трёхуровневой иерархией кэша</a:t>
            </a: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-RU" sz="1600">
                <a:latin typeface="Roboto"/>
                <a:ea typeface="Roboto"/>
                <a:cs typeface="Roboto"/>
              </a:rPr>
              <a:t>  ✓  Реализованы storage-agent (DaemonSet) и storage-mounter (FUSE)</a:t>
            </a: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-RU" sz="1600">
                <a:latin typeface="Roboto"/>
                <a:ea typeface="Roboto"/>
                <a:cs typeface="Roboto"/>
              </a:rPr>
              <a:t>  ✓  Обоснован выбор Redis heartbeat vs Gossip Protocol vs mDNS</a:t>
            </a: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-RU" sz="1600">
                <a:latin typeface="Roboto"/>
                <a:ea typeface="Roboto"/>
                <a:cs typeface="Roboto"/>
              </a:rPr>
              <a:t>  ✓  Теоретический анализ: AMAT, Закон Литтла, Амдал, Ципф</a:t>
            </a:r>
          </a:p>
          <a:p>
            <a:pPr algn="l">
              <a:buNone/>
              <a:spcBef>
                <a:spcPts val="400"/>
              </a:spcBef>
              <a:spcAft>
                <a:spcPts val="0"/>
              </a:spcAft>
            </a:pP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-RU" sz="1800" b="1">
                <a:latin typeface="Roboto"/>
                <a:ea typeface="Roboto"/>
                <a:cs typeface="Roboto"/>
              </a:rPr>
              <a:t>Практическая ценность:</a:t>
            </a:r>
          </a:p>
          <a:p>
            <a:pPr algn="l">
              <a:buNone/>
              <a:spcBef>
                <a:spcPts val="200"/>
              </a:spcBef>
              <a:spcAft>
                <a:spcPts val="0"/>
              </a:spcAft>
            </a:pP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-RU" sz="1600">
                <a:latin typeface="Roboto"/>
                <a:ea typeface="Roboto"/>
                <a:cs typeface="Roboto"/>
              </a:rPr>
              <a:t>  •  135 ГБ экономии внешнего трафика при 10 репликах Llama 3 8B</a:t>
            </a: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-RU" sz="1600">
                <a:latin typeface="Roboto"/>
                <a:ea typeface="Roboto"/>
                <a:cs typeface="Roboto"/>
              </a:rPr>
              <a:t>  •  </a:t>
            </a:r>
            <a:r>
              <a:rPr lang="ru-RU" sz="1600" i="1">
                <a:latin typeface="Roboto"/>
                <a:ea typeface="Roboto"/>
                <a:cs typeface="Roboto"/>
              </a:rPr>
              <a:t>T</a:t>
            </a:r>
            <a:r>
              <a:rPr lang="ru-RU" sz="1152" baseline="-25000">
                <a:latin typeface="Roboto"/>
                <a:ea typeface="Roboto"/>
                <a:cs typeface="Roboto"/>
              </a:rPr>
              <a:t>model_ready</a:t>
            </a:r>
            <a:r>
              <a:rPr lang="ru-RU" sz="1600">
                <a:latin typeface="Roboto"/>
                <a:ea typeface="Roboto"/>
                <a:cs typeface="Roboto"/>
              </a:rPr>
              <a:t>: 75 с → 2 с при прогретом кластере  (×36 ускорение)</a:t>
            </a: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-RU" sz="1600">
                <a:latin typeface="Roboto"/>
                <a:ea typeface="Roboto"/>
                <a:cs typeface="Roboto"/>
              </a:rPr>
              <a:t>  •  </a:t>
            </a:r>
            <a:r>
              <a:rPr lang="ru-RU" sz="1600" i="1">
                <a:latin typeface="Roboto"/>
                <a:ea typeface="Roboto"/>
                <a:cs typeface="Roboto"/>
              </a:rPr>
              <a:t>T</a:t>
            </a:r>
            <a:r>
              <a:rPr lang="ru-RU" sz="1152" baseline="-25000">
                <a:latin typeface="Roboto"/>
                <a:ea typeface="Roboto"/>
                <a:cs typeface="Roboto"/>
              </a:rPr>
              <a:t>first_byte</a:t>
            </a:r>
            <a:r>
              <a:rPr lang="ru-RU" sz="1600">
                <a:latin typeface="Roboto"/>
                <a:ea typeface="Roboto"/>
                <a:cs typeface="Roboto"/>
              </a:rPr>
              <a:t> &lt; 1 с благодаря FUSE lazy loading  (было 75 с)</a:t>
            </a: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-RU" sz="1600">
                <a:latin typeface="Roboto"/>
                <a:ea typeface="Roboto"/>
                <a:cs typeface="Roboto"/>
              </a:rPr>
              <a:t>  •  Устранение NFS как единственной точки отказа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810" y="0"/>
            <a:ext cx="8520379" cy="914400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-RU" sz="2800" b="1">
                <a:latin typeface="Roboto"/>
                <a:ea typeface="Roboto"/>
                <a:cs typeface="Roboto"/>
              </a:rPr>
              <a:t>Направления дальнейшего развития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2394" y="960120"/>
            <a:ext cx="8351215" cy="4023360"/>
          </a:xfrm>
          <a:prstGeom prst="rect">
            <a:avLst/>
          </a:prstGeom>
          <a:noFill/>
        </p:spPr>
        <p:txBody>
          <a:bodyPr wrap="square" anchor="t" anchorCtr="0">
            <a:spAutoFit/>
          </a:bodyPr>
          <a:lstStyle/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-RU" sz="1700">
                <a:latin typeface="Roboto"/>
                <a:ea typeface="Roboto"/>
                <a:cs typeface="Roboto"/>
              </a:rPr>
              <a:t>  1.  Gossip-based peer discovery — P2P без зависимости от Redis</a:t>
            </a: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-RU" sz="1700">
                <a:latin typeface="Roboto"/>
                <a:ea typeface="Roboto"/>
                <a:cs typeface="Roboto"/>
              </a:rPr>
              <a:t>  2.  mTLS между storage-agent — аутентификация TCP для production</a:t>
            </a: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-RU" sz="1700">
                <a:latin typeface="Roboto"/>
                <a:ea typeface="Roboto"/>
                <a:cs typeface="Roboto"/>
              </a:rPr>
              <a:t>  3.  Cache warming — предзагрузка по расписанию, Zipf-прогнозирование</a:t>
            </a: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-RU" sz="1700">
                <a:latin typeface="Roboto"/>
                <a:ea typeface="Roboto"/>
                <a:cs typeface="Roboto"/>
              </a:rPr>
              <a:t>  4.  CSI-плагин — нативная интеграция с Kubernetes PVC</a:t>
            </a: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-RU" sz="1700">
                <a:latin typeface="Roboto"/>
                <a:ea typeface="Roboto"/>
                <a:cs typeface="Roboto"/>
              </a:rPr>
              <a:t>  5.  Поддержка Ollama и ModelScope помимо HuggingFace Hub</a:t>
            </a: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-RU" sz="1700">
                <a:latin typeface="Roboto"/>
                <a:ea typeface="Roboto"/>
                <a:cs typeface="Roboto"/>
              </a:rPr>
              <a:t>  6.  Экспериментальная валидация на реальном GPU-кластере с vLLM</a:t>
            </a:r>
          </a:p>
          <a:p>
            <a:pPr algn="l">
              <a:buNone/>
              <a:spcBef>
                <a:spcPts val="700"/>
              </a:spcBef>
              <a:spcAft>
                <a:spcPts val="0"/>
              </a:spcAft>
            </a:pP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-RU" sz="1700" b="1" i="1">
                <a:solidFill>
                  <a:srgbClr val="158158"/>
                </a:solidFill>
                <a:latin typeface="Roboto"/>
                <a:ea typeface="Roboto"/>
                <a:cs typeface="Roboto"/>
              </a:rPr>
              <a:t>Система позволяет сократить задержку холодного старта на порядок при отсутствии деградации надёжности — что критично для production serverless ML inference.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