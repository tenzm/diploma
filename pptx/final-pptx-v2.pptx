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168" y="137160"/>
            <a:ext cx="676656" cy="658368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" y="320040"/>
            <a:ext cx="676656" cy="27432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900" b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МАИ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164592"/>
            <a:ext cx="7315200" cy="41148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0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МОСКОВСКИЙ АВИАЦИОННЫЙ ИНСТИТУТ (НИУ)  ·  Институт №8  ·  Кафедра 806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868680"/>
            <a:ext cx="7772400" cy="22860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Выпускная квалификационная работа магистра на тему:</a:t>
            </a:r>
          </a:p>
          <a:p>
            <a:pPr algn="l">
              <a:buNone/>
              <a:spcBef>
                <a:spcPts val="700"/>
              </a:spcBef>
              <a:spcAft>
                <a:spcPts val="0"/>
              </a:spcAft>
            </a:pPr>
          </a:p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200" b="1">
                <a:latin typeface="Roboto"/>
                <a:ea typeface="Roboto"/>
                <a:cs typeface="Roboto"/>
              </a:rPr>
              <a:t>Оптимизация холодного старта и масштабирования
моделей машинного обучения в бессерверном инференсе
для обеспечения надёжности и высокой доступности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429000"/>
            <a:ext cx="7772400" cy="100584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Студент группы М8О-209СВ-24:  Блинов Максим Алексеевич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Научный руководитель:  Булакина Мария Борисовна, к.т.н., доцент, доцент каф. 806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Направление:  02.04.02 Фундаментальная информатика и информационные технологии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487168" y="4663440"/>
            <a:ext cx="4169663" cy="32004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200">
                <a:latin typeface="Roboto"/>
                <a:ea typeface="Roboto"/>
                <a:cs typeface="Roboto"/>
              </a:rPr>
              <a:t>Москва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Актуальность темы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960120"/>
            <a:ext cx="416052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50" b="1">
                <a:latin typeface="Roboto"/>
                <a:ea typeface="Roboto"/>
                <a:cs typeface="Roboto"/>
              </a:rPr>
              <a:t>Размеры языковых моделей растут: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GPT-2 (2019):       ~3 МБ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GPT-3 (2020):       ~350 ГБ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LLaMA 3 70B (2024): ~140 ГБ весов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Falcon 180B (2023): ~360 ГБ весов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50" b="1">
                <a:latin typeface="Roboto"/>
                <a:ea typeface="Roboto"/>
                <a:cs typeface="Roboto"/>
              </a:rPr>
              <a:t>Следствие для serverless-инференса: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При scale-up Pod заново скачивает модель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15 ГБ × 200 МБ/с = 75 с до первого токена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latin typeface="Roboto"/>
                <a:ea typeface="Roboto"/>
                <a:cs typeface="Roboto"/>
              </a:rPr>
              <a:t>  10 реплик = 150 ГБ внешнего трафика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50">
                <a:solidFill>
                  <a:srgbClr val="C62828"/>
                </a:solidFill>
                <a:latin typeface="Roboto"/>
                <a:ea typeface="Roboto"/>
                <a:cs typeface="Roboto"/>
              </a:rPr>
              <a:t>  p99 latency → минуты → нарушение SLA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960120"/>
            <a:ext cx="4297680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Цель и задачи работы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Цель: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i="1">
                <a:latin typeface="Roboto"/>
                <a:ea typeface="Roboto"/>
                <a:cs typeface="Roboto"/>
              </a:rPr>
              <a:t>Разработка архитектуры распределённого кэширования ML-моделей для serverless-инференса в Kubernetes, сокращающей задержку холодного старта и снижающей нагрузку на внешние репозитории.</a:t>
            </a:r>
          </a:p>
          <a:p>
            <a:pPr algn="l">
              <a:buNone/>
              <a:spcBef>
                <a:spcPts val="6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Задачи: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1.  Анализ причин холодного старта и масштаба проблемы роста весов моделей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2.  Исследование существующих решений: Alluxio, JuiceFS, Dragonfly, CubeFS, Rook/Ceph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3.  Разработка NFS-этапа с координацией через flock и Kubernetes Lease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4.  Проектирование P2P/FUSE-архитектуры с трёхуровневой иерархией кэша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5.  Реализация storage-agent (DaemonSet) и storage-mounter (FUSE-клиент)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6.  Выбор механизма обнаружения узлов: Redis heartbeat vs Gossip vs mDNS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7.  Теоретический анализ: AMAT, Закон Литтла, Амдал, Ципф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8.  Формирование методики оценки эффективности с расчётными значениями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Исходная архитектура: storage-initializer + emptyDir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" y="960120"/>
            <a:ext cx="429768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latin typeface="Roboto"/>
                <a:ea typeface="Roboto"/>
                <a:cs typeface="Roboto"/>
              </a:rPr>
              <a:t>Поток запуска пода: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1.  Scheduler размещает Pod на worker-ноде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2.  storage-initializer скачивает модель
     из HuggingFace в volume emptyDir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3.  runtime-container монтирует emptyDir
     и загружает веса в CPU / GPU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latin typeface="Roboto"/>
                <a:ea typeface="Roboto"/>
                <a:cs typeface="Roboto"/>
              </a:rPr>
              <a:t>Ключевые проблемы: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  ✕  Нет переиспользования — каждый Pod скачивает заново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  ✕  10 реплик = 10 × 15 ГБ = 150 ГБ внешнего трафика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  ✕  </a:t>
            </a:r>
            <a:r>
              <a:rPr lang="ru-RU" sz="1520" i="1">
                <a:latin typeface="Roboto"/>
                <a:ea typeface="Roboto"/>
                <a:cs typeface="Roboto"/>
              </a:rPr>
              <a:t>T</a:t>
            </a:r>
            <a:r>
              <a:rPr lang="ru-RU" sz="1094" baseline="-25000">
                <a:latin typeface="Roboto"/>
                <a:ea typeface="Roboto"/>
                <a:cs typeface="Roboto"/>
              </a:rPr>
              <a:t>first_byte</a:t>
            </a:r>
            <a:r>
              <a:rPr lang="ru-RU" sz="1520">
                <a:latin typeface="Roboto"/>
                <a:ea typeface="Roboto"/>
                <a:cs typeface="Roboto"/>
              </a:rPr>
              <a:t> = </a:t>
            </a:r>
            <a:r>
              <a:rPr lang="ru-RU" sz="1520" i="1">
                <a:latin typeface="Roboto"/>
                <a:ea typeface="Roboto"/>
                <a:cs typeface="Roboto"/>
              </a:rPr>
              <a:t>T</a:t>
            </a:r>
            <a:r>
              <a:rPr lang="ru-RU" sz="1094" baseline="-25000">
                <a:latin typeface="Roboto"/>
                <a:ea typeface="Roboto"/>
                <a:cs typeface="Roboto"/>
              </a:rPr>
              <a:t>model_ready</a:t>
            </a:r>
            <a:r>
              <a:rPr lang="ru-RU" sz="1520">
                <a:latin typeface="Roboto"/>
                <a:ea typeface="Roboto"/>
                <a:cs typeface="Roboto"/>
              </a:rPr>
              <a:t> ≈ 75 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20">
                <a:latin typeface="Roboto"/>
                <a:ea typeface="Roboto"/>
                <a:cs typeface="Roboto"/>
              </a:rPr>
              <a:t>  ✕  Привязка к доступности HuggingFace Hub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960120"/>
            <a:ext cx="4160520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Требования к архитектуре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914400"/>
            <a:ext cx="8595360" cy="749808"/>
          </a:xfrm>
          <a:prstGeom prst="rect">
            <a:avLst/>
          </a:prstGeom>
          <a:solidFill>
            <a:srgbClr val="E3F2F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32688"/>
            <a:ext cx="8412480" cy="713232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 b="1">
                <a:latin typeface="Roboto"/>
                <a:ea typeface="Roboto"/>
                <a:cs typeface="Roboto"/>
              </a:rPr>
              <a:t>Метрики: </a:t>
            </a:r>
            <a:r>
              <a:rPr lang="ru-RU" sz="1350" i="1">
                <a:latin typeface="Roboto"/>
                <a:ea typeface="Roboto"/>
                <a:cs typeface="Roboto"/>
              </a:rPr>
              <a:t>T</a:t>
            </a:r>
            <a:r>
              <a:rPr lang="ru-RU" sz="972" baseline="-25000">
                <a:latin typeface="Roboto"/>
                <a:ea typeface="Roboto"/>
                <a:cs typeface="Roboto"/>
              </a:rPr>
              <a:t>model_ready</a:t>
            </a:r>
            <a:r>
              <a:rPr lang="ru-RU" sz="1350">
                <a:latin typeface="Roboto"/>
                <a:ea typeface="Roboto"/>
                <a:cs typeface="Roboto"/>
              </a:rPr>
              <a:t> — время от планирования пода до готовности ML-runtime принять первый запрос;  </a:t>
            </a:r>
            <a:r>
              <a:rPr lang="ru-RU" sz="1350" i="1">
                <a:latin typeface="Roboto"/>
                <a:ea typeface="Roboto"/>
                <a:cs typeface="Roboto"/>
              </a:rPr>
              <a:t>T</a:t>
            </a:r>
            <a:r>
              <a:rPr lang="ru-RU" sz="972" baseline="-25000">
                <a:latin typeface="Roboto"/>
                <a:ea typeface="Roboto"/>
                <a:cs typeface="Roboto"/>
              </a:rPr>
              <a:t>first_byte</a:t>
            </a:r>
            <a:r>
              <a:rPr lang="ru-RU" sz="1350">
                <a:latin typeface="Roboto"/>
                <a:ea typeface="Roboto"/>
                <a:cs typeface="Roboto"/>
              </a:rPr>
              <a:t> — время до первого байта данных модели при lazy FUSE loading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2394" y="1737360"/>
            <a:ext cx="4160520" cy="32004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Функциональные: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Переиспользование весов между запусками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P2P-передача чанков между нодами без HF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Стандартный POSIX-интерфейс для ML-runtime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Автоматический fallback на внешний репозиторий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Совместимость с Kubernetes (DaemonSet, CSI)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Атомарная запись чанков: tmp-файл → os.Rename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00600" y="1737360"/>
            <a:ext cx="4069080" cy="32004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Нефункциональные: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</a:t>
            </a:r>
            <a:r>
              <a:rPr lang="ru-RU" sz="1500" i="1">
                <a:latin typeface="Roboto"/>
                <a:ea typeface="Roboto"/>
                <a:cs typeface="Roboto"/>
              </a:rPr>
              <a:t>T</a:t>
            </a:r>
            <a:r>
              <a:rPr lang="ru-RU" sz="1080" baseline="-25000">
                <a:latin typeface="Roboto"/>
                <a:ea typeface="Roboto"/>
                <a:cs typeface="Roboto"/>
              </a:rPr>
              <a:t>model_ready</a:t>
            </a:r>
            <a:r>
              <a:rPr lang="ru-RU" sz="1500">
                <a:latin typeface="Roboto"/>
                <a:ea typeface="Roboto"/>
                <a:cs typeface="Roboto"/>
              </a:rPr>
              <a:t> при local hit ≤ 3 с (15 ГБ)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</a:t>
            </a:r>
            <a:r>
              <a:rPr lang="ru-RU" sz="1500" i="1">
                <a:latin typeface="Roboto"/>
                <a:ea typeface="Roboto"/>
                <a:cs typeface="Roboto"/>
              </a:rPr>
              <a:t>T</a:t>
            </a:r>
            <a:r>
              <a:rPr lang="ru-RU" sz="1080" baseline="-25000">
                <a:latin typeface="Roboto"/>
                <a:ea typeface="Roboto"/>
                <a:cs typeface="Roboto"/>
              </a:rPr>
              <a:t>first_byte</a:t>
            </a:r>
            <a:r>
              <a:rPr lang="ru-RU" sz="1500">
                <a:latin typeface="Roboto"/>
                <a:ea typeface="Roboto"/>
                <a:cs typeface="Roboto"/>
              </a:rPr>
              <a:t> (lazy FUSE loading) &lt; 1 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Трафик N = 10 реплик = 1× размер модели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Отказ worker-ноды → graceful degradation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Overhead FUSE (посл. чтение) ≤ 0.5 % CPU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Redis lookup latency p99 &lt; 5 мс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Стек технологий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Kubernetes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Оркестрация: DaemonSet для storage-agent; PVC, CSI-интеграция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Go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Реализация storage-agent и storage-mounter; библиотека go-fuse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Redis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Реестр метаданных чанков: TTL-записи, heartbeat агентов (Sentinel / Cluster)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FUSE (Linux)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Виртуальная ФС — ML-runtime видит обычные файлы без изменений кода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HuggingFace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Внешний репозиторий весов; fallback-источник при отсутствии кэша</a:t>
            </a:r>
          </a:p>
          <a:p>
            <a:pPr algn="l">
              <a:buNone/>
              <a:spcBef>
                <a:spcPts val="2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NFS  ·  Docker / containerd  ·  Prometheus + Grafana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Промежуточный этап с flock / Lease; контейнеризация; мониторинг hit rate и latency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Предложенная архитектура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005840"/>
            <a:ext cx="4572000" cy="393192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606040"/>
            <a:ext cx="4572000" cy="45720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c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000">
                <a:solidFill>
                  <a:srgbClr val="9E9E9E"/>
                </a:solidFill>
                <a:latin typeface="Roboto"/>
                <a:ea typeface="Roboto"/>
                <a:cs typeface="Roboto"/>
              </a:rPr>
              <a:t>[ схема P2P / FUSE-архитектуры 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66360" y="960120"/>
            <a:ext cx="3703320" cy="393192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58DC7"/>
                </a:solidFill>
                <a:latin typeface="Roboto"/>
                <a:ea typeface="Roboto"/>
                <a:cs typeface="Roboto"/>
              </a:rPr>
              <a:t>Redis Cluster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Control Plane: реестр чанков + heartbeat (TTL 30 с)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158158"/>
                </a:solidFill>
                <a:latin typeface="Roboto"/>
                <a:ea typeface="Roboto"/>
                <a:cs typeface="Roboto"/>
              </a:rPr>
              <a:t>storage-agent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DaemonSet · chunk-кэш NVMe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UDS ← mounter   TCP ↔ пиры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158158"/>
                </a:solidFill>
                <a:latin typeface="Roboto"/>
                <a:ea typeface="Roboto"/>
                <a:cs typeface="Roboto"/>
              </a:rPr>
              <a:t>storage-mounter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FUSE-ФС · lazy loading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</a:t>
            </a:r>
            <a:r>
              <a:rPr lang="ru-RU" sz="1380" i="1">
                <a:latin typeface="Roboto"/>
                <a:ea typeface="Roboto"/>
                <a:cs typeface="Roboto"/>
              </a:rPr>
              <a:t>T</a:t>
            </a:r>
            <a:r>
              <a:rPr lang="ru-RU" sz="993" baseline="-25000">
                <a:latin typeface="Roboto"/>
                <a:ea typeface="Roboto"/>
                <a:cs typeface="Roboto"/>
              </a:rPr>
              <a:t>first_byte</a:t>
            </a:r>
            <a:r>
              <a:rPr lang="ru-RU" sz="1380">
                <a:latin typeface="Roboto"/>
                <a:ea typeface="Roboto"/>
                <a:cs typeface="Roboto"/>
              </a:rPr>
              <a:t> &lt; 1 с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 b="1">
                <a:latin typeface="Roboto"/>
                <a:ea typeface="Roboto"/>
                <a:cs typeface="Roboto"/>
              </a:rPr>
              <a:t>Алгоритм чтения чанка: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Roboto"/>
                <a:ea typeface="Roboto"/>
                <a:cs typeface="Roboto"/>
              </a:rPr>
              <a:t>  1. Локальный NVMe    →  2.3 мс  ✓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E68A00"/>
                </a:solidFill>
                <a:latin typeface="Roboto"/>
                <a:ea typeface="Roboto"/>
                <a:cs typeface="Roboto"/>
              </a:rPr>
              <a:t>  2. Соседняя нода P2P →  13 мс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C62828"/>
                </a:solidFill>
                <a:latin typeface="Roboto"/>
                <a:ea typeface="Roboto"/>
                <a:cs typeface="Roboto"/>
              </a:rPr>
              <a:t>  3. HuggingFace Hub   →  130+ мс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Нагрузочное тестирование: стенд и сценарии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416052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Тестовый стенд: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6 worker-нод: Intel Xeon Silver, 16c/32t, 64 ГБ RAM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Samsung 980 Pro NVMe 2 ТБ — seq. read 7 000 МБ/с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Сеть: 10 Гбит/с Ethernet, RTT ≤ 0.5 мс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Redis: 1 master + 2 replica (Sentinel)</a:t>
            </a:r>
          </a:p>
          <a:p>
            <a:pPr algn="l">
              <a:buNone/>
              <a:spcBef>
                <a:spcPts val="5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Тестовые модели: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Llama 3 8B   —  15 ГБ,    960 чанков × 16 МБ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Mistral 7B   —  14 ГБ,    896 чанков × 16 МБ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•  Llama 3 70B  —  140 ГБ,  8 960 чанков × 16 МБ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00600" y="960120"/>
            <a:ext cx="406908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Сценарии:</a:t>
            </a:r>
          </a:p>
          <a:p>
            <a:pPr algn="l">
              <a:buNone/>
              <a:spcBef>
                <a:spcPts val="3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1.  Cold cluster — кэш пуст, Redis пуст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    первый запуск в кластере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2.  Warm (same node) — local cache hit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    модель уже есть на той же ноде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3.  Warm (peer node) — P2P peer cache hit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    модель есть на соседней ноде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500">
                <a:latin typeface="Roboto"/>
                <a:ea typeface="Roboto"/>
                <a:cs typeface="Roboto"/>
              </a:rPr>
              <a:t>  4.  Burst ×10 — 10 подов одновременно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5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     суммарный трафик и p99 по репликам</a:t>
            </a:r>
          </a:p>
          <a:p>
            <a:pPr algn="l">
              <a:buNone/>
              <a:spcBef>
                <a:spcPts val="5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Метрики: </a:t>
            </a: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T</a:t>
            </a:r>
            <a:r>
              <a:rPr lang="ru-RU" sz="900" baseline="-250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model_ready</a:t>
            </a: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(p50/p99)  ·  </a:t>
            </a: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T</a:t>
            </a:r>
            <a:r>
              <a:rPr lang="ru-RU" sz="900" baseline="-250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first_byte</a:t>
            </a:r>
            <a:r>
              <a:rPr lang="ru-RU" sz="125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·  </a:t>
            </a: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V</a:t>
            </a:r>
            <a:r>
              <a:rPr lang="ru-RU" sz="900" baseline="-25000">
                <a:solidFill>
                  <a:srgbClr val="424242"/>
                </a:solidFill>
                <a:latin typeface="Roboto"/>
                <a:ea typeface="Roboto"/>
                <a:cs typeface="Roboto"/>
              </a:rPr>
              <a:t>ext</a:t>
            </a:r>
            <a:r>
              <a:rPr lang="ru-RU" sz="1250" i="1">
                <a:solidFill>
                  <a:srgbClr val="424242"/>
                </a:solidFill>
                <a:latin typeface="Roboto"/>
                <a:ea typeface="Roboto"/>
                <a:cs typeface="Roboto"/>
              </a:rPr>
              <a:t>  ·  Redis p99  ·  CPU FUSE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Результаты тестирования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914400"/>
          <a:ext cx="8641080" cy="21762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1828800"/>
                <a:gridCol w="1600200"/>
                <a:gridCol w="24688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Roboto"/>
                        </a:rPr>
                        <a:t>Показатель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Roboto"/>
                        </a:rPr>
                        <a:t>emptyDir (baseline)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Roboto"/>
                        </a:rPr>
                        <a:t>NFS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Roboto"/>
                        </a:rPr>
                        <a:t>P2P + FUSE</a:t>
                      </a:r>
                    </a:p>
                  </a:txBody>
                  <a:tcPr>
                    <a:solidFill>
                      <a:srgbClr val="15815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T_model_ready,  cold cluster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~74.8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~74.2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~74.5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T_model_ready,  warm (same 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~74.8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~11.7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~1.9 с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T_model_ready,  warm (peer node)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~74.8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~11.7 с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~13.1 с  ✓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T_first_byte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~74.8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~74.2 с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&lt; 1 с  ✓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Внешний трафик,  N = 10 реплик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150 ГБ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15 ГБ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15 ГБ  ✓</a:t>
                      </a:r>
                    </a:p>
                  </a:txBody>
                  <a:tcPr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SPOF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нет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NFS-сервер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Roboto"/>
                        </a:rPr>
                        <a:t>Redis (HA → нет)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3154680"/>
            <a:ext cx="5303520" cy="18288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3154680"/>
            <a:ext cx="3291840" cy="1828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Анализ надёжности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" y="960120"/>
            <a:ext cx="4480560" cy="3977639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latin typeface="Roboto"/>
                <a:ea typeface="Roboto"/>
                <a:cs typeface="Roboto"/>
              </a:rPr>
              <a:t>Сценарий 1: Отказ worker-ноды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TTL в Redis истекает через 30 с → автоочистка.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r = 2: P(потери) = 10⁻⁴;   r = 3: P = 10⁻⁶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Roboto"/>
                <a:ea typeface="Roboto"/>
                <a:cs typeface="Roboto"/>
              </a:rPr>
              <a:t>  → деградация к HF fallback, не остановка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latin typeface="Roboto"/>
                <a:ea typeface="Roboto"/>
                <a:cs typeface="Roboto"/>
              </a:rPr>
              <a:t>Сценарий 2: Недоступность Redis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Агент теряет peer discovery.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Работает: local cache → HuggingFace (без P2P).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Roboto"/>
                <a:ea typeface="Roboto"/>
                <a:cs typeface="Roboto"/>
              </a:rPr>
              <a:t>  → сервис работает при наличии local кэша</a:t>
            </a:r>
          </a:p>
          <a:p>
            <a:pPr algn="l">
              <a:buNone/>
              <a:spcBef>
                <a:spcPts val="45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latin typeface="Roboto"/>
                <a:ea typeface="Roboto"/>
                <a:cs typeface="Roboto"/>
              </a:rPr>
              <a:t>Сценарий 3: Недоступность HuggingFace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Прогретый кластер полностью автономен.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latin typeface="Roboto"/>
                <a:ea typeface="Roboto"/>
                <a:cs typeface="Roboto"/>
              </a:rPr>
              <a:t>  NFS: отказ сервера = полная остановка.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380">
                <a:solidFill>
                  <a:srgbClr val="158158"/>
                </a:solidFill>
                <a:latin typeface="Roboto"/>
                <a:ea typeface="Roboto"/>
                <a:cs typeface="Roboto"/>
              </a:rPr>
              <a:t>  P2P/FUSE → graceful degradation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46320" y="960120"/>
            <a:ext cx="4069080" cy="201168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0" y="3063240"/>
            <a:ext cx="4069080" cy="1920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Итоги работы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Выполненные задачи: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Проведён анализ причин и масштаба проблемы cold start в serverless ML inference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Исследованы и сравнены 5 решений: Alluxio, JuiceFS, Dragonfly, CubeFS, Rook/Ceph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Разработан NFS-этап с Leader Election через Kubernetes Lease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Спроектирована P2P/FUSE-архитектура с трёхуровневой иерархией кэша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Реализованы storage-agent (DaemonSet) и storage-mounter (FUSE)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Обоснован выбор Redis heartbeat vs Gossip Protocol vs mDNS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✓  Теоретический анализ: AMAT, Закон Литтла, Амдал, Ципф</a:t>
            </a:r>
          </a:p>
          <a:p>
            <a:pPr algn="l">
              <a:buNone/>
              <a:spcBef>
                <a:spcPts val="4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800" b="1">
                <a:latin typeface="Roboto"/>
                <a:ea typeface="Roboto"/>
                <a:cs typeface="Roboto"/>
              </a:rPr>
              <a:t>Практическая ценность:</a:t>
            </a:r>
          </a:p>
          <a:p>
            <a:pPr algn="l">
              <a:buNone/>
              <a:spcBef>
                <a:spcPts val="2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•  135 ГБ экономии внешнего трафика при 10 репликах Llama 3 8B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•  </a:t>
            </a:r>
            <a:r>
              <a:rPr lang="ru-RU" sz="1600" i="1">
                <a:latin typeface="Roboto"/>
                <a:ea typeface="Roboto"/>
                <a:cs typeface="Roboto"/>
              </a:rPr>
              <a:t>T</a:t>
            </a:r>
            <a:r>
              <a:rPr lang="ru-RU" sz="1152" baseline="-25000">
                <a:latin typeface="Roboto"/>
                <a:ea typeface="Roboto"/>
                <a:cs typeface="Roboto"/>
              </a:rPr>
              <a:t>model_ready</a:t>
            </a:r>
            <a:r>
              <a:rPr lang="ru-RU" sz="1600">
                <a:latin typeface="Roboto"/>
                <a:ea typeface="Roboto"/>
                <a:cs typeface="Roboto"/>
              </a:rPr>
              <a:t>: 75 с → 2 с при прогретом кластере  (×36 ускорение)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•  </a:t>
            </a:r>
            <a:r>
              <a:rPr lang="ru-RU" sz="1600" i="1">
                <a:latin typeface="Roboto"/>
                <a:ea typeface="Roboto"/>
                <a:cs typeface="Roboto"/>
              </a:rPr>
              <a:t>T</a:t>
            </a:r>
            <a:r>
              <a:rPr lang="ru-RU" sz="1152" baseline="-25000">
                <a:latin typeface="Roboto"/>
                <a:ea typeface="Roboto"/>
                <a:cs typeface="Roboto"/>
              </a:rPr>
              <a:t>first_byte</a:t>
            </a:r>
            <a:r>
              <a:rPr lang="ru-RU" sz="1600">
                <a:latin typeface="Roboto"/>
                <a:ea typeface="Roboto"/>
                <a:cs typeface="Roboto"/>
              </a:rPr>
              <a:t> &lt; 1 с благодаря FUSE lazy loading  (было 75 с)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600">
                <a:latin typeface="Roboto"/>
                <a:ea typeface="Roboto"/>
                <a:cs typeface="Roboto"/>
              </a:rPr>
              <a:t>  •  Устранение NFS как единственной точки отказа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11810" y="0"/>
            <a:ext cx="8520379" cy="914400"/>
          </a:xfrm>
          <a:prstGeom prst="rect">
            <a:avLst/>
          </a:prstGeom>
          <a:noFill/>
        </p:spPr>
        <p:txBody>
          <a:bodyPr wrap="square" anchor="ctr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2800" b="1">
                <a:latin typeface="Roboto"/>
                <a:ea typeface="Roboto"/>
                <a:cs typeface="Roboto"/>
              </a:rPr>
              <a:t>Направления дальнейшего развития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2394" y="960120"/>
            <a:ext cx="8351215" cy="4023360"/>
          </a:xfrm>
          <a:prstGeom prst="rect">
            <a:avLst/>
          </a:prstGeom>
          <a:noFill/>
        </p:spPr>
        <p:txBody>
          <a:bodyPr wrap="square" anchor="t" anchorCtr="0">
            <a:spAutoFit/>
          </a:bodyPr>
          <a:lstStyle/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1.  Gossip-based peer discovery — P2P без зависимости от Redis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2.  mTLS между storage-agent — аутентификация TCP для production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3.  Cache warming — предзагрузка по расписанию, Zipf-прогнозирование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4.  CSI-плагин — нативная интеграция с Kubernetes PVC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5.  Поддержка Ollama и ModelScope помимо HuggingFace Hub</a:t>
            </a: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>
                <a:latin typeface="Roboto"/>
                <a:ea typeface="Roboto"/>
                <a:cs typeface="Roboto"/>
              </a:rPr>
              <a:t>  6.  Экспериментальная валидация на реальном GPU-кластере с vLLM</a:t>
            </a:r>
          </a:p>
          <a:p>
            <a:pPr algn="l">
              <a:buNone/>
              <a:spcBef>
                <a:spcPts val="700"/>
              </a:spcBef>
              <a:spcAft>
                <a:spcPts val="0"/>
              </a:spcAft>
            </a:pPr>
          </a:p>
          <a:p>
            <a:pPr algn="l" indent="0" marL="0">
              <a:buNone/>
              <a:spcBef>
                <a:spcPts val="0"/>
              </a:spcBef>
              <a:spcAft>
                <a:spcPts val="0"/>
              </a:spcAft>
            </a:pPr>
            <a:r>
              <a:rPr lang="ru-RU" sz="1700" b="1" i="1">
                <a:solidFill>
                  <a:srgbClr val="158158"/>
                </a:solidFill>
                <a:latin typeface="Roboto"/>
                <a:ea typeface="Roboto"/>
                <a:cs typeface="Roboto"/>
              </a:rPr>
              <a:t>Система позволяет сократить задержку холодного старта на порядок при отсутствии деградации надёжности — что критично для production serverless ML inference.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